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75"/>
  </p:normalViewPr>
  <p:slideViewPr>
    <p:cSldViewPr snapToGrid="0" snapToObjects="1">
      <p:cViewPr varScale="1">
        <p:scale>
          <a:sx n="159" d="100"/>
          <a:sy n="159" d="100"/>
        </p:scale>
        <p:origin x="8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Фаззинг дополняет заранее написанные тесты автоматическим поиском входов, вызывающих ошибки. Промышленное применение подтверждается OSS-Fuzz и OneFuzz. К маю 2025 OSS-Fuzz помог выявить и исправить более 13 000 уязвимостей и 50 000 ошибок в 1 000 проектах; числа не суммируются. Microsoft описала использование OneFuzz в Windows и Edge в публикации от 15.09.2020.</a:t>
            </a:r>
            <a:endParaRPr lang="ru-RU"/>
          </a:p>
          <a:p>
            <a:r>
              <a:rPr lang="ru-RU" sz="1200" b="0"/>
              <a:t>Для сервиса одного генератора запросов недостаточно: требуется управлять данными зависимостей, изолировать окружение и контролировать состояние между примерами. Переход к следующему слайду: выбрать конкретную платформу сервисов и имеющееся средство управления тестовым окружением.</a:t>
            </a:r>
            <a:endParaRPr lang="ru-RU"/>
          </a:p>
          <a:p>
            <a:r>
              <a:rPr lang="ru-RU" sz="1200" b="0"/>
              <a:t>Источники: https://github.com/google/oss-fuzz#trophies; https://www.microsoft.com/en-us/security/blog/2020/09/15/microsoft-onefuzz-framework-open-source-developer-tool-fix-bugs/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userver — открытый асинхронный C++-фреймворк для сервисов. Официальная документация подтверждает применение во многих высоконагруженных и высокодоступных production-сервисах без точного числа. Поэтому практический интерес представляет поиск ошибок в их запросах, данных и состоянии до выпуска.</a:t>
            </a:r>
            <a:endParaRPr lang="ru-RU"/>
          </a:p>
          <a:p>
            <a:r>
              <a:rPr lang="ru-RU" sz="1200" b="0"/>
              <a:t>testsuite — Python-фреймворк на основе pytest для функционального тестирования микросервисов. userver имеет встроенную поддержку testsuite. Есть запуск сервиса, работа с тестовой БД, моки и проверки через API. Предлагаемый инструмент должен связать генерацию фаззинг-примеров с этим управлением окружением. Автоматический сброс произвольного сервиса между фаззинг-примерами не заявляется готовой универсальной возможностью testsuite.</a:t>
            </a:r>
            <a:endParaRPr lang="ru-RU"/>
          </a:p>
          <a:p>
            <a:r>
              <a:rPr lang="ru-RU" sz="1200" b="0"/>
              <a:t>Следующий шаг рассказа: рассмотреть существующие фаззеры, затем сформулировать цель и гипотезу интеграции с userver/testsuitе.</a:t>
            </a:r>
            <a:endParaRPr lang="ru-RU"/>
          </a:p>
          <a:p>
            <a:r>
              <a:rPr lang="ru-RU" sz="1200" b="0"/>
              <a:t>Источники: https://userver.tech/; https://userver.tech/df/d07/md_en_2userver_2functional__testing.html; https://userver.tech/docs/v2.12/d0/d7b/md_en_2userver_2development_2releases.html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Сравнение относится к REST/OpenAPI — первому прототипу проекта. gRPC остаётся потенциальным расширением. Столбец «Роль в сравнении» описывает план применения инструментов, а не уже полученные экспериментальные результаты.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Schemathesis генерирует входы по OpenAPI и строит цепочки операций. Его Python API — кандидат для интеграции, совместимость с async testsuite и C++-покрытием ещё нужно проверить. https://github.com/schemathesis/schemathesis ; https://schemathesis.readthedocs.io/en/stable/explanations/stateful/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RESTler выводит producer–consumer зависимости из спецификации и изучает последовательности запросов. Он нужен для сравнения поиска stateful-сценариев. https://github.com/microsoft/restler-fuzzer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EvoMaster умеет black-box и white-box тестирование. Для текущего C++-стенда сравнивается black-box режим по HTTP без инструментации сервера. Наличие white-box возможностей на других платформах не приписывается C++-стенду. https://github.com/WebFuzzing/EvoMaster ; https://github.com/WebFuzzing/EvoMaster/blob/master/docs/blackbox.md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WuppieFuzz — coverage-guided stateful REST API fuzzer на LibAFL, с режимом без покрытия сервера. Возможность получить пригодную C++-обратную связь через адаптер требует прототипа, готовая интеграция не заявляется. https://github.com/TNO-S3/WuppieFuzz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 таблицы не следует, что конкуренты лишены изоляции или пользовательских расширений. Цель проекта — проверить интеграцию генерации, управления окружением и покрытия C++ на userver-стендах. Превосходство над аналогами ещё не установлено. Основа инструмента пока не выбрана. Источники проверены 30.10.2026.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r>
              <a:rPr lang="ru-RU" sz="1200"/>
              <a:t>Источники:</a:t>
            </a:r>
          </a:p>
          <a:p>
            <a:r>
              <a:rPr lang="ru-RU" sz="1200"/>
              <a:t>PROJECT.md, концепция от 29.10.2026</a:t>
            </a:r>
          </a:p>
          <a:p>
            <a:r>
              <a:rPr lang="ru-RU" sz="1200"/>
              <a:t>Пояснение grey-box: C++-сервис собирается с инструментированием. Покрытие, полученное от исследуемых запросов или цепочек, направляет выбор перспективных примеров. Подготовку окружения нужно отделять от измерения, иначе покрытие подготовки может направлять поиск вместо целевых вызовов.</a:t>
            </a:r>
          </a:p>
          <a:p>
            <a:r>
              <a:rPr lang="ru-RU" sz="1200"/>
              <a:t>План оценки двух факторов: четыре конфигурации — без покрытия и сценариев, только покрытие, только сценарии, покрытие вместе со сценариями. Сравнивать при одинаковых бюджетах и начальных условиях в повторных прогонах. Отдельный прогон без пользовательских сценариев должен исследовать последовательности самостоятельно. Точные бюджет и число запусков предстоит определить.</a:t>
            </a:r>
          </a:p>
          <a:p>
            <a:r>
              <a:rPr lang="ru-RU" sz="1200"/>
              <a:t>Ожидаемый собственный вклад: интеграция поиска с жизненным циклом testsuite, управление состоянием и данными зависимостей, обратная связь C++ и воспроизведение целого примера. Генераторы готовых фаззеров могут быть переиспользованы; основа прототипа пока не выбрана. Работа не предполагает обязательной разработки нового алгоритма поиска.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r>
              <a:rPr lang="ru-RU" sz="1200"/>
              <a:t>Источники:</a:t>
            </a:r>
          </a:p>
          <a:p>
            <a:r>
              <a:rPr lang="ru-RU" sz="1200"/>
              <a:t>PROJECT.md, концепция от 29.10.2026</a:t>
            </a:r>
          </a:p>
          <a:p>
            <a:r>
              <a:rPr lang="ru-RU" sz="1200"/>
              <a:t>services/simple-target-service/openapi.yaml</a:t>
            </a:r>
          </a:p>
          <a:p>
            <a:r>
              <a:rPr lang="ru-RU" sz="1200"/>
              <a:t>В примере выделен только дополнительный вызов — повтор commit. Исходный use case содержит prepare и один commit; повтор выбирается общей мутацией фаззера. На контрольном стенде повтор commit с тем же ticket при определённых данных может завершить процесс. Это целевой дефект для будущего поиска, а не результат уже выполненного фаззинга.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Окружение является управляемой частью входа во всех трёх режимах. Помимо фиксированных заготовок фаззер может выбирать и изменять данные зависимостей, а также вставлять доступные действия с окружением между вызовами сервиса. Testsuite исполняет выбранные действия через адаптеры.</a:t>
            </a:r>
            <a:endParaRPr lang="ru-RU" sz="1200"/>
          </a:p>
          <a:p>
            <a:r>
              <a:rPr lang="ru-RU" sz="1200" b="0"/>
              <a:t>Разработчик определяет доступные действия, схемы, генераторы и необходимые связи данных. Примеры действий: выбрать ответ мока, записать файл, подготовить или изменить записи в тестовой БД, опубликовать сообщение в тестовый брокер. API-схема сервиса сама по себе не описывает форматы файлов и бизнес-связи БД. Конкретный API адаптеров предстоит спроектировать.</a:t>
            </a:r>
            <a:endParaRPr lang="ru-RU" sz="1200"/>
          </a:p>
          <a:p>
            <a:r>
              <a:rPr lang="ru-RU" sz="1200" b="0"/>
              <a:t>Используются настоящие тестовые экземпляры БД и брокера. Состояние накапливается внутри примера или цепочки. Testsuite восстанавливает сервис и зависимости перед следующим примером. Сброс не должен происходить после каждого вызова внутри stateful-цепочки. Перед сбросом требуется завершить либо остановить фоновые действия.</a:t>
            </a:r>
            <a:endParaRPr lang="ru-RU" sz="1200"/>
          </a:p>
          <a:p>
            <a:r>
              <a:rPr lang="ru-RU" sz="1200" b="0"/>
              <a:t>Для воспроизведения сохраняется весь пример: начальные данные, действия с окружением, запросы, выбранные ответы моков и их связи. Намеренные отказы зависимостей и управление гонками отложены.</a:t>
            </a:r>
            <a:endParaRPr lang="ru-RU" sz="1200"/>
          </a:p>
          <a:p>
            <a:r>
              <a:rPr lang="ru-RU" sz="1200" b="0"/>
              <a:t>Источник: PROJECT.md, разделы о данных зависимостей, изоляции и воспроизведении; уточнение концепции автором проекта 30.10.2026.</a:t>
            </a:r>
            <a:endParaRPr lang="ru-RU" sz="1200"/>
          </a:p>
          <a:p>
            <a:r>
              <a:rPr lang="ru-RU" sz="1200" b="0"/>
              <a:t>Репродуктор сохраняет весь пример: исходные данные, запросы, действия с окружением, выбранные ответы моков и ссылки между результатами. Ticket при воспроизведении получают новым prepare и передают по сохранённой связи; буквальная запись старого ticket недостаточна. Сброс между примерами предполагает явные адаптеры сервиса и зависимостей, а не универсальное обнуление произвольного C++-состояния.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README.md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services/simple-target-service/README.md</a:t>
            </a:r>
          </a:p>
          <a:p>
            <a:r>
              <a:rPr lang="en-US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r>
              <a:rPr lang="ru-RU" sz="1200"/>
              <a:t>Источники:</a:t>
            </a:r>
          </a:p>
          <a:p>
            <a:r>
              <a:rPr lang="ru-RU" sz="1200"/>
              <a:t>PROJECT.md, концепция от 29.10.2026</a:t>
            </a:r>
          </a:p>
          <a:p>
            <a:r>
              <a:rPr lang="ru-RU" sz="1200"/>
              <a:t>REST_FUZZERS.md</a:t>
            </a:r>
          </a:p>
          <a:p>
            <a:r>
              <a:rPr lang="ru-RU" sz="1200"/>
              <a:t>Практическая цель на стендах: обнаружить 5 из 5 контрольных классов дефектов за заранее заданный бюджет и подтвердить воспроизведение находок из исходного окружения. HTTP 500 учитывать отдельно от падения процесса. Делать повторные прогоны и сообщать долю успехов и время до находки. Точный бюджет и число повторов пока не заданы.</a:t>
            </a:r>
          </a:p>
          <a:p>
            <a:r>
              <a:rPr lang="ru-RU" sz="1200"/>
              <a:t>Объём ручной настройки оценивается вместе с результативностью: какие схемы, словари, сценарии, callbacks и адаптеры потребовались для подключения каждого инструмента. Различать настройку поиска и организацию сброса окружения. Это проверка ожидаемой практической пользы, а не доказанное снижение трудоёмкости.</a:t>
            </a:r>
          </a:p>
          <a:p>
            <a:r>
              <a:rPr lang="ru-RU" sz="1200"/>
              <a:t>В исходной OpenAPI-схеме стенда есть ручные связи prepare–commit и повтор commit. Их нужно явно учитывать. Самостоятельный поиск повтора проверяется отдельным прогоном без соответствующей ручной подсказки. Контрольные репродукторы не добавляются скрытно в корпус. Пользовательский сценарий prepare, commit допустим, подсказка «повтори commit дважды» для поиска этого дефекта недопустима.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2000" baseline="0"/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0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8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lang="ru-RU" sz="1400" baseline="0"/>
            </a:lvl1pPr>
            <a:lvl2pPr>
              <a:buNone/>
              <a:defRPr lang="ru-RU" sz="2400"/>
            </a:lvl2pPr>
            <a:lvl3pPr>
              <a:buNone/>
              <a:defRPr lang="ru-RU" sz="2000"/>
            </a:lvl3pPr>
            <a:lvl4pPr>
              <a:buNone/>
              <a:defRPr lang="ru-RU" sz="1800"/>
            </a:lvl4pPr>
            <a:lvl5pPr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20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6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4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6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/>
          </a:p>
          <a:p>
            <a:pPr lvl="0">
              <a:buNone/>
            </a:pPr>
            <a:endParaRPr lang="ru-RU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600"/>
            </a:lvl2pPr>
            <a:lvl3pPr>
              <a:buNone/>
              <a:defRPr lang="ru-RU" sz="1600"/>
            </a:lvl3pPr>
            <a:lvl4pPr>
              <a:buNone/>
              <a:defRPr lang="ru-RU" sz="1600"/>
            </a:lvl4pPr>
            <a:lvl5pPr>
              <a:buNone/>
              <a:defRPr lang="ru-RU" sz="16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lang="ru-RU" sz="1400" b="0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lang="ru-RU" sz="1800" b="1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lang="ru-RU" sz="3600" b="1" i="0" kern="1200" baseline="0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https://github.com/TNO-S3/WuppieFuzz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WebFuzzing/EvoMaster" TargetMode="External"/><Relationship Id="rId5" Type="http://schemas.openxmlformats.org/officeDocument/2006/relationships/hyperlink" Target="https://github.com/microsoft/restler-fuzzer" TargetMode="External"/><Relationship Id="rId4" Type="http://schemas.openxmlformats.org/officeDocument/2006/relationships/hyperlink" Target="https://github.com/schemathesis/schemathesi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 </a:t>
            </a:r>
            <a:r>
              <a:rPr lang="ru-RU"/>
              <a:t>инструмента</a:t>
            </a: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>
              <a:solidFill>
                <a:schemeClr val="bg1"/>
              </a:solidFill>
            </a:endParaRPr>
          </a:p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endParaRPr lang="ru-RU" sz="4400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Скрябин Иван Александрович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Степанов Даниил Сергеевич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фаззинга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  <a:endParaRPr lang="ru-RU"/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  <a:endParaRPr lang="ru-RU"/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автоматически генерирует и изменяет входные данные,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чтобы находить ошибки за пределами заранее написанных тестов.</a:t>
            </a:r>
            <a:endParaRPr lang="ru-RU"/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в промышленной разработке</a:t>
            </a:r>
            <a:endParaRPr lang="ru-RU" dirty="0"/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Fuzz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: 13 000+ уязвимостей в 1 000 проектах</a:t>
            </a:r>
            <a:endParaRPr lang="ru-RU" dirty="0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2025. Microsoft применяет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OneFuzz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в Windows и Edge.</a:t>
            </a:r>
            <a:endParaRPr lang="ru-RU" dirty="0"/>
          </a:p>
        </p:txBody>
      </p:sp>
      <p:sp>
        <p:nvSpPr>
          <p:cNvPr id="3" name="integration-title">
            <a:extLst>
              <a:ext uri="{FF2B5EF4-FFF2-40B4-BE49-F238E27FC236}">
                <a16:creationId xmlns:a16="http://schemas.microsoft.com/office/drawing/2014/main" id="{9C242695-7421-37AD-A6F0-38E4B97865E3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/>
              <a:t>Высокий порог подключения к сервису</a:t>
            </a:r>
            <a:endParaRPr lang="ru-RU"/>
          </a:p>
        </p:txBody>
      </p:sp>
      <p:sp>
        <p:nvSpPr>
          <p:cNvPr id="13" name="integration-text">
            <a:extLst>
              <a:ext uri="{FF2B5EF4-FFF2-40B4-BE49-F238E27FC236}">
                <a16:creationId xmlns:a16="http://schemas.microsoft.com/office/drawing/2014/main" id="{DFBE82EF-2695-34D7-8731-FA860AB7F221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/>
              <a:t>Подключение фаззинга требует изоляции окружения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/>
              <a:t>и контроля состояния между тестовыми примерами.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8EC8D-1EE1-429D-BC23-2472346AD1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EA3AE0-A218-4F8B-911E-C9CF5FDD6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 и testsuite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80810CD0-8A29-4E39-A445-23AFD5867C1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  <a:endParaRPr lang="ru-RU"/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E8C6588A-840B-4CAE-9ACF-59796BF527D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userver: разработка сервисов</a:t>
            </a:r>
            <a:endParaRPr lang="ru-RU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89695BC3-3AEE-4D83-9C8B-74E46F627C4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Открытый асинхронный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++-фреймворк для микросервисов.</a:t>
            </a:r>
            <a:endParaRPr lang="ru-RU" dirty="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Поддерживает HTTP,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gRPC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, работу с БД и брокерами.</a:t>
            </a:r>
            <a:endParaRPr lang="ru-RU" dirty="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работают в продакшене.</a:t>
            </a:r>
            <a:endParaRPr lang="ru-RU" dirty="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A67C6F30-017A-4274-9BF3-29CFB8D1C894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testsuite: тестирование сервисов</a:t>
            </a:r>
            <a:endParaRPr lang="ru-RU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0861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Python-фреймворк на основе pytest для функциональных тестов.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Запускает сервис, готовит данные и подменяет внешние API.</a:t>
            </a:r>
            <a:endParaRPr lang="ru-RU"/>
          </a:p>
        </p:txBody>
      </p:sp>
      <p:sp>
        <p:nvSpPr>
          <p:cNvPr id="10" name="narrative-transition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9243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Задача: находить ошибки в userver-сервисах до выпуска,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используя testsuite для управления тестовым окружением.</a:t>
            </a:r>
            <a:endParaRPr lang="ru-RU"/>
          </a:p>
        </p:txBody>
      </p:sp>
      <p:sp>
        <p:nvSpPr>
          <p:cNvPr id="11" name="narrative-sources">
            <a:extLst>
              <a:ext uri="{FF2B5EF4-FFF2-40B4-BE49-F238E27FC236}">
                <a16:creationId xmlns:a16="http://schemas.microsoft.com/office/drawing/2014/main" id="{6CC122BE-2C59-4488-940F-425D190657CA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42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lang="ru-RU" sz="1100" b="0">
                <a:solidFill>
                  <a:srgbClr val="5A5A5A"/>
                </a:solidFill>
                <a:latin typeface="Golos Text"/>
                <a:ea typeface="Golos Text"/>
                <a:cs typeface="Golos Text"/>
              </a:defRPr>
            </a:pPr>
            <a:endParaRPr lang="ru-RU" sz="1100" b="0" dirty="0">
              <a:solidFill>
                <a:srgbClr val="5A5A5A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206449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04950"/>
          <a:ext cx="7753350" cy="25527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Как ищет ошибки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Роль в сравнении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u="sng" dirty="0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4"/>
                        </a:rPr>
                        <a:t>Schemathesis</a:t>
                      </a:r>
                      <a:endParaRPr lang="ru-RU" sz="1500" dirty="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Генерирует запросы и цепочки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 схеме OpenAPI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по схеме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интеграция с Python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5"/>
                        </a:rPr>
                        <a:t>RESTler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Выводит зависимости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строит цепочки запросов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сценариев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состоянием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6"/>
                        </a:rPr>
                        <a:t>EvoMaster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Генерирует API-тесты,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есть режим без доступа к коду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без покрытия C++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7"/>
                        </a:rPr>
                        <a:t>WuppieFuzz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Мутирует запросы и цепочки,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учитывает покрытие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Адаптация поиска</a:t>
                      </a:r>
                      <a:endParaRPr lang="ru-RU" sz="1500" dirty="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 покрытию к </a:t>
                      </a:r>
                      <a:r>
                        <a:rPr lang="ru-RU" sz="1500" b="0" dirty="0" err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C</a:t>
                      </a:r>
                      <a:r>
                        <a:rPr lang="ru-RU" sz="1500" b="0" dirty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++</a:t>
                      </a:r>
                      <a:endParaRPr lang="ru-RU" sz="1500" dirty="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229100"/>
            <a:ext cx="775335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spcAft>
                <a:spcPts val="0"/>
              </a:spcAft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Задача работы: связать поиск ошибок с testsuite,</a:t>
            </a:r>
            <a:endParaRPr lang="ru-RU" sz="1650"/>
          </a:p>
          <a:p>
            <a:pPr>
              <a:spcAft>
                <a:spcPts val="0"/>
              </a:spcAft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управлением окружением и покрытием C++.</a:t>
            </a:r>
            <a:endParaRPr lang="ru-RU" sz="165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</a:t>
            </a:r>
            <a:r>
              <a:rPr lang="ru-RU" sz="1875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grey-box</a:t>
            </a:r>
            <a:r>
              <a:rPr lang="ru-RU" sz="187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875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1875" b="0" dirty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</a:t>
            </a:r>
            <a:r>
              <a:rPr lang="ru-RU" sz="1875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87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 интеграцией в </a:t>
            </a:r>
            <a:r>
              <a:rPr lang="ru-RU" sz="1875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</a:t>
            </a:r>
            <a:r>
              <a:rPr lang="ru-RU" sz="187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8575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257550"/>
            <a:ext cx="78105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</a:t>
            </a:r>
            <a:r>
              <a:rPr lang="ru-RU" sz="1725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72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</a:t>
            </a:r>
            <a:r>
              <a:rPr lang="en-US" dirty="0"/>
              <a:t>, </a:t>
            </a:r>
            <a:r>
              <a:rPr lang="ru-RU" sz="172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пользовательские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0"/>
              <a:t>сценарии и контроль окружения </a:t>
            </a:r>
            <a:r>
              <a:rPr lang="ru-RU" sz="1725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повышают эффективность поиска ошибок.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1">
                <a:solidFill>
                  <a:srgbClr val="5541B7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33337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как часть входа фаззера</a:t>
            </a:r>
            <a:endParaRPr lang="ru-RU" sz="1800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варьирует ответы моков, файлы, данные БД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сообщения брокера по заданным схемам и генераторам.</a:t>
            </a:r>
            <a:endParaRPr lang="ru-RU" sz="165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 через testsuite</a:t>
            </a:r>
            <a:endParaRPr lang="ru-RU" sz="1800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действия и данные, testsuite их применяет.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Изменения окружения можно чередовать с вызовами сервиса.</a:t>
            </a:r>
            <a:endParaRPr lang="ru-RU" sz="1650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Изоляция и воспроизведение</a:t>
            </a:r>
            <a:endParaRPr lang="ru-RU" sz="1800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 восстанавливает сервис и зависимости между примерами.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Для повтора сохраняются входы, окружение и связи данных.</a:t>
            </a:r>
            <a:endParaRPr lang="ru-RU" sz="1650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 marL="257175"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11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  <a:endParaRPr lang="ru-RU" sz="1650"/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Объём ручной настройки</a:t>
            </a:r>
            <a:endParaRPr lang="ru-RU" sz="1650"/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2367</Words>
  <Application>Microsoft Macintosh PowerPoint</Application>
  <DocSecurity>0</DocSecurity>
  <PresentationFormat>On-screen Show (16:9)</PresentationFormat>
  <Paragraphs>192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сервисов на userver</vt:lpstr>
      <vt:lpstr>Актуальность фаззинга</vt:lpstr>
      <vt:lpstr>userver и testsuite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8</cp:revision>
  <dcterms:created xsi:type="dcterms:W3CDTF">2026-10-29T23:19:15Z</dcterms:created>
  <dcterms:modified xsi:type="dcterms:W3CDTF">2026-10-30T00:47:38Z</dcterms:modified>
</cp:coreProperties>
</file>