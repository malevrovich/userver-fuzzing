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 snapToObjects="1">
      <p:cViewPr varScale="1">
        <p:scale>
          <a:sx n="160" d="100"/>
          <a:sy n="160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Фаззинг широко применяется в промышленной разработке. Это подтверждается масштабом OSS-Fuzz и примерами Microsoft. Слово «тренд» не используется как утверждение об измеренном росте рынка.</a:t>
            </a:r>
          </a:p>
          <a:p>
            <a:r>
              <a:rPr lang="ru-RU"/>
              <a:t>[1] Google OSS-Fuzz, README, раздел Trophies: к маю 2025 помог выявить и исправить более 13 000 уязвимостей и 50 000 ошибок в 1 000 проектах. Числа не суммируются. https://github.com/google/oss-fuzz#trophies</a:t>
            </a:r>
          </a:p>
          <a:p>
            <a:r>
              <a:rPr lang="ru-RU"/>
              <a:t>[2] Microsoft Security Blog, 15.09.2020: Project OneFuzz используется Microsoft Edge, Windows и другими командами Microsoft. Это документированный пример применения, а не утверждение о текущей конфигурации их инфраструктуры. https://www.microsoft.com/en-us/security/blog/2020/09/15/microsoft-onefuzz-framework-open-source-developer-tool-fix-bugs/</a:t>
            </a:r>
          </a:p>
          <a:p>
            <a:r>
              <a:rPr lang="ru-RU"/>
              <a:t>[3] userver — открытый асинхронный C++-фреймворк для микросервисов, сервисов и утилит. https://userver.tech/</a:t>
            </a:r>
          </a:p>
          <a:p>
            <a:r>
              <a:rPr lang="ru-RU"/>
              <a:t>Официальная документация userver подтверждает использование во многих высоконагруженных и высокодоступных сервисах в production. Точное число сервисов не указано. https://userver.tech/docs/v2.12/d0/d7b/md_en_2userver_2development_2releases.html</a:t>
            </a:r>
          </a:p>
          <a:p>
            <a:r>
              <a:rPr lang="ru-RU"/>
              <a:t>Мотивация проекта: сделать фаззинг доступнее разработчику userver-сервиса через знакомую инфраструктуру testsuite, чтобы находить дополнительные ошибки до выпуска. Снижение трудоёмкости подключения предстоит проверить экспериментально. Источники проверены 30.10.2026.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Обзор фиксирует подходы, а не результаты сравнения. Schemathesis поддерживает генерацию по OpenAPI и stateful-связи. RESTler исследует последовательности с producer–consumer зависимостями. EvoMaster рассматривается для C++-сервиса в black-box режиме, без переноса возможностей инструментирования JVM. WuppieFuzz — coverage-guided REST-фаззер на LibAFL; сбор покрытия C++ и интеграцию с окружением требуется проверить. Таблица не утверждает отсутствие аналогичных возможностей у конкурентов. Основа прототипа пока не выбрана.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https://schemathesis.readthedocs.io/en/stable/explanations/stateful/</a:t>
            </a:r>
          </a:p>
          <a:p>
            <a:r>
              <a:rPr lang="en-US"/>
              <a:t>https://github.com/microsoft/restler-fuzzer</a:t>
            </a:r>
          </a:p>
          <a:p>
            <a:r>
              <a:rPr lang="en-US"/>
              <a:t>https://github.com/WebFuzzing/EvoMaster/blob/master/docs/blackbox.md</a:t>
            </a:r>
          </a:p>
          <a:p>
            <a:r>
              <a:rPr lang="en-US"/>
              <a:t>https://github.com/TNO-S3/WuppieFuzz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services/simple-target-service/openapi.yaml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dirty="1" b="0"/>
              <a:t>Окружение является управляемой частью входа во всех трёх режимах. Помимо фиксированных заготовок фаззер может выбирать и изменять данные зависимостей, а также вставлять доступные действия с окружением между вызовами сервиса. Testsuite исполняет выбранные действия через адаптеры.</a:t>
            </a:r>
            <a:endParaRPr lang="ru-RU" sz="1200"/>
          </a:p>
          <a:p>
            <a:r>
              <a:rPr lang="ru-RU" sz="1200" dirty="1" b="0"/>
              <a:t>Разработчик определяет доступные действия, схемы, генераторы и необходимые связи данных. Примеры действий: выбрать ответ мока, записать файл, подготовить или изменить записи в тестовой БД, опубликовать сообщение в тестовый брокер. API-схема сервиса сама по себе не описывает форматы файлов и бизнес-связи БД. Конкретный API адаптеров предстоит спроектировать.</a:t>
            </a:r>
            <a:endParaRPr lang="ru-RU" sz="1200"/>
          </a:p>
          <a:p>
            <a:r>
              <a:rPr lang="ru-RU" sz="1200" dirty="1" b="0"/>
              <a:t>Используются настоящие тестовые экземпляры БД и брокера. Состояние накапливается внутри примера или цепочки. Testsuite восстанавливает сервис и зависимости перед следующим примером. Сброс не должен происходить после каждого вызова внутри stateful-цепочки. Перед сбросом требуется завершить либо остановить фоновые действия.</a:t>
            </a:r>
            <a:endParaRPr lang="ru-RU" sz="1200"/>
          </a:p>
          <a:p>
            <a:r>
              <a:rPr lang="ru-RU" sz="1200" dirty="1" b="0"/>
              <a:t>Для воспроизведения сохраняется весь пример: начальные данные, действия с окружением, запросы, выбранные ответы моков и их связи. Намеренные отказы зависимостей и управление гонками отложены.</a:t>
            </a:r>
            <a:endParaRPr lang="ru-RU" sz="1200"/>
          </a:p>
          <a:p>
            <a:r>
              <a:rPr lang="ru-RU" sz="1200" dirty="1" b="0"/>
              <a:t>Источник: PROJECT.md, разделы о данных зависимостей, изоляции и воспроизведении; уточнение концепции автором проекта 30.10.2026.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README.md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services/simple-target-service/README.md</a:t>
            </a:r>
          </a:p>
          <a:p>
            <a:r>
              <a:rPr lang="en-US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2000" baseline="0"/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0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8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lang="ru-RU" sz="1400" baseline="0"/>
            </a:lvl1pPr>
            <a:lvl2pPr>
              <a:buNone/>
              <a:defRPr lang="ru-RU" sz="2400"/>
            </a:lvl2pPr>
            <a:lvl3pPr>
              <a:buNone/>
              <a:defRPr lang="ru-RU" sz="2000"/>
            </a:lvl3pPr>
            <a:lvl4pPr>
              <a:buNone/>
              <a:defRPr lang="ru-RU" sz="1800"/>
            </a:lvl4pPr>
            <a:lvl5pPr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20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6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4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6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/>
          </a:p>
          <a:p>
            <a:pPr lvl="0">
              <a:buNone/>
            </a:pPr>
            <a:endParaRPr lang="ru-RU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600"/>
            </a:lvl2pPr>
            <a:lvl3pPr>
              <a:buNone/>
              <a:defRPr lang="ru-RU" sz="1600"/>
            </a:lvl3pPr>
            <a:lvl4pPr>
              <a:buNone/>
              <a:defRPr lang="ru-RU" sz="1600"/>
            </a:lvl4pPr>
            <a:lvl5pPr>
              <a:buNone/>
              <a:defRPr lang="ru-RU" sz="16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lang="ru-RU" sz="1400" b="0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lang="ru-RU" sz="1800" b="1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lang="ru-RU" sz="3600" b="1" i="0" kern="1200" baseline="0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server.tech/docs/v2.12/d0/d7b/md_en_2userver_2development_2releases.html" TargetMode="External"/><Relationship Id="rId5" Type="http://schemas.openxmlformats.org/officeDocument/2006/relationships/hyperlink" Target="https://www.microsoft.com/en-us/security/blog/2020/09/15/microsoft-onefuzz-framework-open-source-developer-tool-fix-bugs/" TargetMode="External"/><Relationship Id="rId4" Type="http://schemas.openxmlformats.org/officeDocument/2006/relationships/hyperlink" Target="https://github.com/google/oss-fuzz#trophi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 </a:t>
            </a:r>
            <a:r>
              <a:rPr lang="ru-RU"/>
              <a:t>инструмента</a:t>
            </a: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>
              <a:solidFill>
                <a:schemeClr val="bg1"/>
              </a:solidFill>
            </a:endParaRPr>
          </a:p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endParaRPr lang="ru-RU" sz="4400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Скрябин Иван Александрович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Степанов Даниил Сергеевич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22860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темы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в промышленной разработке</a:t>
            </a:r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OSS-Fuzz: 13 000+ уязвимостей в 1 000 проектах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 маю 2025 [1]. Microsoft применяет OneFuzz в Windows и Edge [2].</a:t>
            </a:r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265460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и его применение</a:t>
            </a:r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627410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Асинхронный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++-фреймворк для разработки сервисов.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Многие сервисы на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работают в продакшене [3].</a:t>
            </a:r>
          </a:p>
        </p:txBody>
      </p:sp>
      <p:sp>
        <p:nvSpPr>
          <p:cNvPr id="10" name="integration-title">
            <a:extLst>
              <a:ext uri="{FF2B5EF4-FFF2-40B4-BE49-F238E27FC236}">
                <a16:creationId xmlns:a16="http://schemas.microsoft.com/office/drawing/2014/main" id="{27C9A2E3-9DE7-4BF7-9D26-8E2635C88688}"/>
              </a:ext>
            </a:extLst>
          </p:cNvPr>
          <p:cNvSpPr>
            <a:spLocks noGrp="1"/>
          </p:cNvSpPr>
          <p:nvPr/>
        </p:nvSpPr>
        <p:spPr>
          <a:xfrm>
            <a:off x="571500" y="324653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до выпуска сервиса</a:t>
            </a:r>
          </a:p>
        </p:txBody>
      </p:sp>
      <p:sp>
        <p:nvSpPr>
          <p:cNvPr id="11" name="integration-text">
            <a:extLst>
              <a:ext uri="{FF2B5EF4-FFF2-40B4-BE49-F238E27FC236}">
                <a16:creationId xmlns:a16="http://schemas.microsoft.com/office/drawing/2014/main" id="{161323BF-372C-459B-99EF-2B591161FD16}"/>
              </a:ext>
            </a:extLst>
          </p:cNvPr>
          <p:cNvSpPr>
            <a:spLocks noGrp="1"/>
          </p:cNvSpPr>
          <p:nvPr/>
        </p:nvSpPr>
        <p:spPr>
          <a:xfrm>
            <a:off x="571500" y="3540321"/>
            <a:ext cx="7620000" cy="3253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дополняет ручные тесты неожиданными входами.</a:t>
            </a:r>
          </a:p>
        </p:txBody>
      </p:sp>
      <p:sp>
        <p:nvSpPr>
          <p:cNvPr id="12" name="relevance-sources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4778734" y="4759062"/>
            <a:ext cx="3706963" cy="133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00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Источники: </a:t>
            </a:r>
            <a:r>
              <a:rPr lang="en-US" sz="1000" u="sng" dirty="0">
                <a:solidFill>
                  <a:srgbClr val="5541B7"/>
                </a:solidFill>
                <a:hlinkClick r:id="rId4"/>
              </a:rPr>
              <a:t>[1] Google OSS-Fuzz    </a:t>
            </a:r>
            <a:r>
              <a:rPr lang="en-US" sz="1000" u="sng" dirty="0">
                <a:solidFill>
                  <a:srgbClr val="5541B7"/>
                </a:solidFill>
                <a:hlinkClick r:id="rId5"/>
              </a:rPr>
              <a:t>[2] Microsoft OneFuzz    </a:t>
            </a:r>
            <a:r>
              <a:rPr lang="en-US" sz="1000" u="sng" dirty="0">
                <a:solidFill>
                  <a:srgbClr val="5541B7"/>
                </a:solidFill>
                <a:hlinkClick r:id="rId6"/>
              </a:rPr>
              <a:t>[3] userver</a:t>
            </a:r>
          </a:p>
        </p:txBody>
      </p:sp>
      <p:sp>
        <p:nvSpPr>
          <p:cNvPr id="3" name="integration-title">
            <a:extLst>
              <a:ext uri="{FF2B5EF4-FFF2-40B4-BE49-F238E27FC236}">
                <a16:creationId xmlns:a16="http://schemas.microsoft.com/office/drawing/2014/main" id="{9C242695-7421-37AD-A6F0-38E4B97865E3}"/>
              </a:ext>
            </a:extLst>
          </p:cNvPr>
          <p:cNvSpPr>
            <a:spLocks noGrp="1"/>
          </p:cNvSpPr>
          <p:nvPr/>
        </p:nvSpPr>
        <p:spPr>
          <a:xfrm>
            <a:off x="571500" y="3924299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dirty="0"/>
              <a:t>Высокий порог 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написания </a:t>
            </a:r>
            <a:r>
              <a:rPr lang="ru-RU" sz="1800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теста для сервиса</a:t>
            </a:r>
          </a:p>
        </p:txBody>
      </p:sp>
      <p:sp>
        <p:nvSpPr>
          <p:cNvPr id="13" name="integration-text">
            <a:extLst>
              <a:ext uri="{FF2B5EF4-FFF2-40B4-BE49-F238E27FC236}">
                <a16:creationId xmlns:a16="http://schemas.microsoft.com/office/drawing/2014/main" id="{DFBE82EF-2695-34D7-8731-FA860AB7F221}"/>
              </a:ext>
            </a:extLst>
          </p:cNvPr>
          <p:cNvSpPr>
            <a:spLocks noGrp="1"/>
          </p:cNvSpPr>
          <p:nvPr/>
        </p:nvSpPr>
        <p:spPr>
          <a:xfrm>
            <a:off x="571500" y="4222992"/>
            <a:ext cx="7620000" cy="45728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001" dirty="0"/>
              <a:t>Подключение фаззинга к сервису требует изоляции окружения и </a:t>
            </a:r>
            <a:r>
              <a:rPr lang="ru-RU" dirty="0"/>
              <a:t>контроля</a:t>
            </a:r>
            <a:r>
              <a:rPr lang="en-001" dirty="0"/>
              <a:t> состояния между тестовыми примерами.</a:t>
            </a:r>
            <a:br>
              <a:rPr lang="en-001" dirty="0"/>
            </a:br>
            <a:endParaRPr lang="ru-RU" sz="1650" b="0" dirty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52575"/>
          <a:ext cx="7848600" cy="2505583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Основной подход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Вопрос для нашего проекта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Schemathesis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OpenAPI, Python,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stateful-цепочки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Async testsuite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RESTler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Зависимости между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запросами и 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Изоляция окружения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Воспроизведение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EvoMaster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API-тестов,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black-box режим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C++-стендах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WuppieFuzz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Фаззинг REST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обратной связью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Сброс состояния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143375"/>
            <a:ext cx="7753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Фокус работы: совместить поиск цепочек и данных</a:t>
            </a:r>
          </a:p>
          <a:p>
            <a: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 изоляцией </a:t>
            </a:r>
            <a:r>
              <a:rPr lang="ru-RU" sz="1538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</a:t>
            </a: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и обратной связью из </a:t>
            </a:r>
            <a:r>
              <a:rPr lang="ru-RU" sz="1538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grey-box фаззинга</a:t>
            </a:r>
          </a:p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userver с интеграцией в testsuite.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78105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C++ и пользовательские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сценарии повышают эффективность поиска ошибок.</a:t>
            </a:r>
          </a:p>
        </p:txBody>
      </p:sp>
      <p:sp>
        <p:nvSpPr>
          <p:cNvPr id="10" name="evaluation">
            <a:extLst>
              <a:ext uri="{FF2B5EF4-FFF2-40B4-BE49-F238E27FC236}">
                <a16:creationId xmlns:a16="http://schemas.microsoft.com/office/drawing/2014/main" id="{3035EA1D-DCE3-4B88-8DB2-5C12079B9C9C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7810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Проверка: сравнить режимы с этими возможностями</a:t>
            </a:r>
          </a:p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и без них при одинаковом бюджете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как часть входа фаззера</a:t>
            </a:r>
            <a:endParaRPr lang="ru-RU" sz="1800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варьирует ответы моков, файлы, данные БД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сообщения брокера по заданным схемам и генераторам.</a:t>
            </a:r>
            <a:endParaRPr lang="ru-RU" sz="165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 через testsuite</a:t>
            </a:r>
            <a:endParaRPr lang="ru-RU" sz="1800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выбирает действия и данные, testsuite их применяет.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Изменения окружения можно чередовать с вызовами сервиса.</a:t>
            </a:r>
            <a:endParaRPr lang="ru-RU" sz="1650"/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Изоляция и воспроизведение</a:t>
            </a:r>
            <a:endParaRPr lang="ru-RU" sz="1800"/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 восстанавливает сервис и зависимости между примерами.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Для повтора сохраняются запросы и изменения окружения.</a:t>
            </a:r>
            <a:endParaRPr lang="ru-RU" sz="1650"/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5247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200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Все три режима. Отказы зависимостей остаются за рамками текущего этапа.</a:t>
            </a:r>
            <a:endParaRPr lang="ru-RU" sz="120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266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ru-RU" sz="4400"/>
              <a:t>Спасибо</a:t>
            </a:r>
            <a:br>
              <a:rPr lang="ru-RU" sz="4400"/>
            </a:br>
            <a:r>
              <a:rPr lang="ru-RU" sz="4400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1603</Words>
  <Application>Microsoft Macintosh PowerPoint</Application>
  <DocSecurity>0</DocSecurity>
  <PresentationFormat>On-screen Show (16:9)</PresentationFormat>
  <Paragraphs>181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сервисов на userver</vt:lpstr>
      <vt:lpstr>Актуальность темы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2</cp:revision>
  <dcterms:created xsi:type="dcterms:W3CDTF">2026-10-29T23:19:15Z</dcterms:created>
  <dcterms:modified xsi:type="dcterms:W3CDTF">2026-10-30T00:06:55Z</dcterms:modified>
</cp:coreProperties>
</file>