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buNone/>
      <a:defRPr lang="ru-RU"/>
    </a:defPPr>
    <a:lvl1pPr marL="0" algn="l" defTabSz="457200">
      <a:buNone/>
      <a:defRPr lang="ru-RU"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lang="ru-RU"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lang="ru-RU"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lang="ru-RU"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lang="ru-RU"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lang="ru-RU"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lang="ru-RU"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lang="ru-RU"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lang="ru-RU"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75"/>
  </p:normalViewPr>
  <p:slideViewPr>
    <p:cSldViewPr snapToGrid="0" snapToObjects="1">
      <p:cViewPr varScale="1">
        <p:scale>
          <a:sx n="159" d="100"/>
          <a:sy n="159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Предлагаемое название темы: «Разработка инструмента фаззинга сервисов на userver с учётом состояния и изоляцией окружения». Начальная область — REST. Пользователь самостоятельно заполнит сведения об авторе, научном консультанте и руководителе. Использован оригинальный титульный слайд предоставленного шаблона.</a:t>
            </a:r>
          </a:p>
          <a:p>
            <a:endParaRPr lang="ru-RU"/>
          </a:p>
          <a:p>
            <a:r>
              <a:rPr lang="ru-RU"/>
              <a:t>Источники:</a:t>
            </a:r>
          </a:p>
          <a:p>
            <a:r>
              <a:rPr lang="ru-RU"/>
              <a:t>PROJECT.md, концепция от 29.10.2026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1" sz="1200" b="0"/>
              <a:t>Фаззинг дополняет заранее написанные тесты автоматическим поиском входов, вызывающих ошибки. Промышленное применение подтверждается OSS-Fuzz и OneFuzz. К маю 2025 OSS-Fuzz помог выявить и исправить более 13 000 уязвимостей и 50 000 ошибок в 1 000 проектах; числа не суммируются. Microsoft описала использование OneFuzz в Windows и Edge в публикации от 15.09.2020.</a:t>
            </a:r>
            <a:endParaRPr lang="ru-RU"/>
          </a:p>
          <a:p>
            <a:r>
              <a:rPr lang="ru-RU" dirty="1" sz="1200" b="0"/>
              <a:t>Для сервиса одного генератора запросов недостаточно: требуется управлять данными зависимостей, изолировать окружение и контролировать состояние между примерами. Переход к следующему слайду: выбрать конкретную платформу сервисов и имеющееся средство управления тестовым окружением.</a:t>
            </a:r>
            <a:endParaRPr lang="ru-RU"/>
          </a:p>
          <a:p>
            <a:r>
              <a:rPr lang="ru-RU" dirty="1" sz="1200" b="0"/>
              <a:t>Источники: https://github.com/google/oss-fuzz#trophies; https://www.microsoft.com/en-us/security/blog/2020/09/15/microsoft-onefuzz-framework-open-source-developer-tool-fix-bugs/</a:t>
            </a: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dirty="1"/>
              <a:t>userver — открытый асинхронный C++-фреймворк для сервисов. Официальная документация подтверждает применение во многих высоконагруженных и высокодоступных production-сервисах без точного числа. Поэтому практический интерес представляет поиск ошибок в их запросах, данных и состоянии до выпуска.</a:t>
            </a:r>
            <a:endParaRPr lang="ru-RU"/>
          </a:p>
          <a:p>
            <a:r>
              <a:rPr lang="ru-RU" sz="1200" b="0" dirty="1"/>
              <a:t>testsuite — Python-фреймворк на основе pytest для функционального тестирования микросервисов. userver имеет встроенную поддержку testsuite. Есть запуск сервиса, работа с тестовой БД, моки и проверки через API. Предлагаемый инструмент должен связать генерацию фаззинг-примеров с этим управлением окружением. Автоматический сброс произвольного сервиса между фаззинг-примерами не заявляется готовой универсальной возможностью testsuite.</a:t>
            </a:r>
            <a:endParaRPr lang="ru-RU"/>
          </a:p>
          <a:p>
            <a:r>
              <a:rPr lang="ru-RU" sz="1200" b="0" dirty="1"/>
              <a:t>Следующий шаг рассказа: рассмотреть существующие фаззеры, затем сформулировать цель и гипотезу интеграции с userver/testsuitе.</a:t>
            </a:r>
            <a:endParaRPr lang="ru-RU"/>
          </a:p>
          <a:p>
            <a:r>
              <a:rPr lang="ru-RU" sz="1200" b="0" dirty="1"/>
              <a:t>Источники: https://userver.tech/; https://userver.tech/df/d07/md_en_2userver_2functional__testing.html; https://userver.tech/docs/v2.12/d0/d7b/md_en_2userver_2development_2releases.html</a:t>
            </a: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Обзор фиксирует подходы, а не результаты сравнения. Schemathesis поддерживает генерацию по OpenAPI и stateful-связи. RESTler исследует последовательности с producer–consumer зависимостями. EvoMaster рассматривается для C++-сервиса в black-box режиме, без переноса возможностей инструментирования JVM. WuppieFuzz — coverage-guided REST-фаззер на LibAFL; сбор покрытия C++ и интеграцию с окружением требуется проверить. Таблица не утверждает отсутствие аналогичных возможностей у конкурентов. Основа прототипа пока не выбрана.</a:t>
            </a:r>
          </a:p>
          <a:p>
            <a:endParaRPr lang="ru-RU"/>
          </a:p>
          <a:p>
            <a:r>
              <a:rPr lang="ru-RU"/>
              <a:t>Источники:</a:t>
            </a:r>
          </a:p>
          <a:p>
            <a:r>
              <a:rPr lang="en-US"/>
              <a:t>https://schemathesis.readthedocs.io/en/stable/explanations/stateful/</a:t>
            </a:r>
          </a:p>
          <a:p>
            <a:r>
              <a:rPr lang="en-US"/>
              <a:t>https://github.com/microsoft/restler-fuzzer</a:t>
            </a:r>
          </a:p>
          <a:p>
            <a:r>
              <a:rPr lang="en-US"/>
              <a:t>https://github.com/WebFuzzing/EvoMaster/blob/master/docs/blackbox.md</a:t>
            </a:r>
          </a:p>
          <a:p>
            <a:r>
              <a:rPr lang="en-US"/>
              <a:t>https://github.com/TNO-S3/WuppieFuzz</a:t>
            </a:r>
          </a:p>
          <a:p>
            <a:r>
              <a:rPr lang="en-US"/>
              <a:t>REST_FUZZERS.md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Цель относится к работающему инструменту и экспериментальной оценке. Гипотеза не является установленным результатом. Эффект покрытия и эффект пользовательских сценариев нужно измерять отдельно. Основные показатели — доля найденных контрольных дефектов, время до обнаружения и воспроизводимость. Покрытие направляет поиск, а наличие дефекта определяется проверками. Научную новизну уточняем по обзору аналогов и экспериментам.</a:t>
            </a:r>
          </a:p>
          <a:p>
            <a:endParaRPr lang="ru-RU"/>
          </a:p>
          <a:p>
            <a:r>
              <a:rPr lang="ru-RU"/>
              <a:t>Источники:</a:t>
            </a:r>
          </a:p>
          <a:p>
            <a:r>
              <a:rPr lang="ru-RU"/>
              <a:t>PROJECT.md, концепция от 29.10.2026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первом режиме один пример — отдельный запрос с восстановлением исходного состояния. Во втором и третьем пример — целая последовательность. Модель хранит любые необходимые результаты и связи, включая версии и вложенные значения, а не только user_id. Сценарии опциональны. Три режима доступны как без покрытия для контроля, так и в целевом grey-box режиме.</a:t>
            </a:r>
          </a:p>
          <a:p>
            <a:endParaRPr lang="ru-RU"/>
          </a:p>
          <a:p>
            <a:r>
              <a:rPr lang="ru-RU"/>
              <a:t>Источники:</a:t>
            </a:r>
          </a:p>
          <a:p>
            <a:r>
              <a:rPr lang="ru-RU"/>
              <a:t>PROJECT.md, концепция от 29.10.2026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Это псевдокод, конкретный Python API ещё не зафиксирован. Нормальный use case prepare и commit — допустимая подсказка. Требование повторить commit дважды и конкретное значение падения не подсказываются. Повтор — общая мутация последовательности. Вызовы после удаления тоже полезны для проверки корректного отказа. В текущей схеме стенда уже присутствует ручная связь повторного commit, поэтому самостоятельный поиск повтора нужно оценивать отдельно без неё.</a:t>
            </a:r>
          </a:p>
          <a:p>
            <a:endParaRPr lang="ru-RU"/>
          </a:p>
          <a:p>
            <a:r>
              <a:rPr lang="ru-RU"/>
              <a:t>Источники:</a:t>
            </a:r>
          </a:p>
          <a:p>
            <a:r>
              <a:rPr lang="ru-RU"/>
              <a:t>PROJECT.md, концепция от 29.10.2026</a:t>
            </a:r>
          </a:p>
          <a:p>
            <a:r>
              <a:rPr lang="en-US"/>
              <a:t>services/simple-target-service/openapi.yaml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/>
              <a:t>Окружение является управляемой частью входа во всех трёх режимах. Помимо фиксированных заготовок фаззер может выбирать и изменять данные зависимостей, а также вставлять доступные действия с окружением между вызовами сервиса. Testsuite исполняет выбранные действия через адаптеры.</a:t>
            </a:r>
            <a:endParaRPr lang="ru-RU" sz="1200"/>
          </a:p>
          <a:p>
            <a:r>
              <a:rPr lang="ru-RU" sz="1200" b="0"/>
              <a:t>Разработчик определяет доступные действия, схемы, генераторы и необходимые связи данных. Примеры действий: выбрать ответ мока, записать файл, подготовить или изменить записи в тестовой БД, опубликовать сообщение в тестовый брокер. API-схема сервиса сама по себе не описывает форматы файлов и бизнес-связи БД. Конкретный API адаптеров предстоит спроектировать.</a:t>
            </a:r>
            <a:endParaRPr lang="ru-RU" sz="1200"/>
          </a:p>
          <a:p>
            <a:r>
              <a:rPr lang="ru-RU" sz="1200" b="0"/>
              <a:t>Используются настоящие тестовые экземпляры БД и брокера. Состояние накапливается внутри примера или цепочки. Testsuite восстанавливает сервис и зависимости перед следующим примером. Сброс не должен происходить после каждого вызова внутри stateful-цепочки. Перед сбросом требуется завершить либо остановить фоновые действия.</a:t>
            </a:r>
            <a:endParaRPr lang="ru-RU" sz="1200"/>
          </a:p>
          <a:p>
            <a:r>
              <a:rPr lang="ru-RU" sz="1200" b="0"/>
              <a:t>Для воспроизведения сохраняется весь пример: начальные данные, действия с окружением, запросы, выбранные ответы моков и их связи. Намеренные отказы зависимостей и управление гонками отложены.</a:t>
            </a:r>
            <a:endParaRPr lang="ru-RU" sz="1200"/>
          </a:p>
          <a:p>
            <a:r>
              <a:rPr lang="ru-RU" sz="1200" b="0"/>
              <a:t>Источник: PROJECT.md, разделы о данных зависимостей, изоляции и воспроизведении; уточнение концепции автором проекта 30.10.2026.</a:t>
            </a:r>
            <a:endParaRPr lang="ru-RU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Начинаем с общего цикла: генерация, подготовка окружения, запрос, проверки, восстановление и воспроизведение. После него добавляем автоматические последовательности и пользовательские сценарии поверх общего механизма. Сбор покрытия C++ нужно проверить техническим прототипом на раннем этапе. Формат Python API и основа движка пока открыты. Контрольные эксперименты определяют, что выгодно переиспользовать.</a:t>
            </a:r>
          </a:p>
          <a:p>
            <a:endParaRPr lang="ru-RU"/>
          </a:p>
          <a:p>
            <a:r>
              <a:rPr lang="ru-RU"/>
              <a:t>Источники:</a:t>
            </a:r>
          </a:p>
          <a:p>
            <a:r>
              <a:rPr lang="ru-RU"/>
              <a:t>PROJECT.md, концепция от 29.10.2026</a:t>
            </a:r>
          </a:p>
          <a:p>
            <a:r>
              <a:rPr lang="en-US"/>
              <a:t>REST_FUZZERS.md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Текущее состояние взято из README проекта и согласованной концепции. Сервисы и контрольные проверки есть. Прогоны фаззеров и измерения их эффективности ещё не выполнены. Собственный фаззинг-инструмент ещё не реализован. gRPC-стенд уже существует, но основная область текущего прототипа — REST. Для файлов, БД и брокера потребуются дополнительные контрольные сценарии. Не выдаём наличие функциональных тестов за результат фаззинга.</a:t>
            </a:r>
          </a:p>
          <a:p>
            <a:endParaRPr lang="ru-RU"/>
          </a:p>
          <a:p>
            <a:r>
              <a:rPr lang="ru-RU"/>
              <a:t>Источники:</a:t>
            </a:r>
          </a:p>
          <a:p>
            <a:r>
              <a:rPr lang="en-US"/>
              <a:t>README.md</a:t>
            </a:r>
          </a:p>
          <a:p>
            <a:r>
              <a:rPr lang="ru-RU"/>
              <a:t>PROJECT.md, концепция от 29.10.2026</a:t>
            </a:r>
          </a:p>
          <a:p>
            <a:r>
              <a:rPr lang="en-US"/>
              <a:t>services/simple-target-service/README.md</a:t>
            </a:r>
          </a:p>
          <a:p>
            <a:r>
              <a:rPr lang="en-US"/>
              <a:t>services/simple-grpc-target-service/README.md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Минимальная цель — самостоятельно находить пять классов контрольных дефектов за установленный бюджет и повторять находки из исходного состояния. Значения и готовые последовательности падения не должны скрытно попадать в стартовый корпус. Для пятого класса важно совместно варьировать REST-запрос и допустимый ответ зависимости. Фиксированный retry проверяет лишь часть задачи. Эффективность оценивается в повторных прогонах с фиксацией версий, начального корпуса, подсказок и стоимости сброса. Новые ошибки на реальных сервисах желательны, но не являются единственным критерием успеха.</a:t>
            </a:r>
          </a:p>
          <a:p>
            <a:endParaRPr lang="ru-RU"/>
          </a:p>
          <a:p>
            <a:r>
              <a:rPr lang="ru-RU"/>
              <a:t>Источники:</a:t>
            </a:r>
          </a:p>
          <a:p>
            <a:r>
              <a:rPr lang="ru-RU"/>
              <a:t>PROJECT.md, концепция от 29.10.2026</a:t>
            </a:r>
          </a:p>
          <a:p>
            <a:r>
              <a:rPr lang="en-US"/>
              <a:t>REST_FUZZERS.md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Заключительный слайд исходного шаблона. Контакты пользователь заполнит самостоятельно.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4EB702-B640-40F1-A922-E1E12E13B9B1}"/>
              </a:ext>
            </a:extLst>
          </p:cNvPr>
          <p:cNvSpPr>
            <a:spLocks noGrp="1"/>
          </p:cNvSpPr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4A7373-9A81-470D-9521-AD884A438321}"/>
              </a:ext>
            </a:extLst>
          </p:cNvPr>
          <p:cNvSpPr>
            <a:spLocks noGrp="1"/>
          </p:cNvSpPr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>
            <a:spLocks noGrp="1"/>
          </p:cNvSpPr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>
            <a:spLocks noGrp="1"/>
          </p:cNvSpPr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2000" baseline="0"/>
            </a:lvl1pPr>
            <a:lvl2pPr marL="457200" indent="0">
              <a:buFont typeface="Arial"/>
              <a:buNone/>
              <a:defRPr lang="ru-RU" sz="2400"/>
            </a:lvl2pPr>
            <a:lvl3pPr marL="914400" indent="0">
              <a:buFont typeface="Arial"/>
              <a:buNone/>
              <a:defRPr lang="ru-RU" sz="2000"/>
            </a:lvl3pPr>
            <a:lvl4pPr marL="1371600" indent="0">
              <a:buFont typeface="Arial"/>
              <a:buNone/>
              <a:defRPr lang="ru-RU" sz="1800"/>
            </a:lvl4pPr>
            <a:lvl5pPr marL="1828800" indent="0">
              <a:buFont typeface="Arial"/>
              <a:buNone/>
              <a:defRPr lang="ru-RU" sz="1800"/>
            </a:lvl5pPr>
            <a:lvl6pPr>
              <a:buNone/>
              <a:defRPr lang="ru-RU" sz="1800"/>
            </a:lvl6pPr>
            <a:lvl7pPr>
              <a:buNone/>
              <a:defRPr lang="ru-RU" sz="1800"/>
            </a:lvl7pPr>
            <a:lvl8pPr>
              <a:buNone/>
              <a:defRPr lang="ru-RU" sz="1800"/>
            </a:lvl8pPr>
            <a:lvl9pPr>
              <a:buNone/>
              <a:defRPr lang="ru-RU" sz="1800"/>
            </a:lvl9pPr>
          </a:lstStyle>
          <a:p>
            <a:r>
              <a:rPr lang="ru-RU" sz="2000">
                <a:latin typeface="Golos Text"/>
                <a:ea typeface="Golos Text"/>
                <a:cs typeface="Golos Text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18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18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8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8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конец списка.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3B84B-A5CC-4C59-9826-D1074F43D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F3A81-D0ED-4D72-9679-2A2CCDBB869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lang="ru-RU" sz="1400" baseline="0"/>
            </a:lvl1pPr>
            <a:lvl2pPr>
              <a:buNone/>
              <a:defRPr lang="ru-RU" sz="2400"/>
            </a:lvl2pPr>
            <a:lvl3pPr>
              <a:buNone/>
              <a:defRPr lang="ru-RU" sz="2000"/>
            </a:lvl3pPr>
            <a:lvl4pPr>
              <a:buNone/>
              <a:defRPr lang="ru-RU" sz="1800"/>
            </a:lvl4pPr>
            <a:lvl5pPr>
              <a:buNone/>
              <a:defRPr lang="ru-RU" sz="1800"/>
            </a:lvl5pPr>
            <a:lvl6pPr>
              <a:buNone/>
              <a:defRPr lang="ru-RU" sz="1800"/>
            </a:lvl6pPr>
            <a:lvl7pPr>
              <a:buNone/>
              <a:defRPr lang="ru-RU" sz="1800"/>
            </a:lvl7pPr>
            <a:lvl8pPr>
              <a:buNone/>
              <a:defRPr lang="ru-RU" sz="1800"/>
            </a:lvl8pPr>
            <a:lvl9pPr>
              <a:buNone/>
              <a:defRPr lang="ru-RU" sz="1800"/>
            </a:lvl9pPr>
          </a:lstStyle>
          <a:p>
            <a:r>
              <a:rPr lang="ru-RU" sz="2400">
                <a:latin typeface="Golos Text"/>
                <a:ea typeface="Golos Text"/>
                <a:cs typeface="Golos Text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20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20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20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20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конец списка.</a:t>
            </a:r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/>
            </a:lvl2pPr>
            <a:lvl3pPr marL="914400" indent="0">
              <a:buNone/>
              <a:defRPr lang="ru-RU"/>
            </a:lvl3pPr>
            <a:lvl4pPr marL="1371600" indent="0">
              <a:buNone/>
              <a:defRPr lang="ru-RU"/>
            </a:lvl4pPr>
            <a:lvl5pPr marL="1828800" indent="0">
              <a:buFont typeface="Arial"/>
              <a:buNone/>
              <a:defRPr lang="ru-RU"/>
            </a:lvl5pPr>
          </a:lstStyle>
          <a:p>
            <a:r>
              <a:rPr lang="ru-RU" sz="1200">
                <a:latin typeface="Golos Text"/>
                <a:ea typeface="Golos Text"/>
                <a:cs typeface="Golos Text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lang="ru-RU" sz="1600" u="sng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lang="ru-RU" sz="1400"/>
            </a:lvl1pPr>
            <a:lvl2pPr marL="457200" indent="0">
              <a:buNone/>
              <a:defRPr lang="ru-RU"/>
            </a:lvl2pPr>
            <a:lvl3pPr marL="914400" indent="0">
              <a:buNone/>
              <a:defRPr lang="ru-RU"/>
            </a:lvl3pPr>
            <a:lvl4pPr marL="1371600" indent="0">
              <a:buNone/>
              <a:defRPr lang="ru-RU"/>
            </a:lvl4pPr>
            <a:lvl5pPr marL="1828800" indent="0">
              <a:buFont typeface="Arial"/>
              <a:buNone/>
              <a:defRPr lang="ru-RU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lang="ru-RU" sz="1200">
                <a:latin typeface="Golos Text"/>
                <a:ea typeface="Golos Text"/>
                <a:cs typeface="Golos Text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ru-RU" sz="1200" b="1" i="0">
              <a:solidFill>
                <a:srgbClr val="2C2D2E"/>
              </a:solidFill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12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lang="ru-RU" sz="1600" u="sng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lang="ru-RU" sz="1200" baseline="0"/>
            </a:lvl1pPr>
            <a:lvl2pPr marL="457200" indent="0">
              <a:buNone/>
              <a:defRPr lang="ru-RU" sz="1400" baseline="0"/>
            </a:lvl2pPr>
            <a:lvl3pPr marL="914400" indent="0">
              <a:buNone/>
              <a:defRPr lang="ru-RU" sz="1400" baseline="0"/>
            </a:lvl3pPr>
            <a:lvl4pPr marL="1371600" indent="0">
              <a:buNone/>
              <a:defRPr lang="ru-RU" sz="1400" baseline="0"/>
            </a:lvl4pPr>
            <a:lvl5pPr marL="1828800" indent="0">
              <a:buFont typeface="Arial"/>
              <a:buNone/>
              <a:defRPr lang="ru-RU" sz="1400" baseline="0"/>
            </a:lvl5pPr>
          </a:lstStyle>
          <a:p>
            <a:r>
              <a:rPr lang="ru-RU" sz="1400">
                <a:latin typeface="Golos Text"/>
                <a:ea typeface="Golos Text"/>
                <a:cs typeface="Golos Text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800" b="0" baseline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lang="ru-RU" sz="2400"/>
            </a:lvl2pPr>
            <a:lvl3pPr marL="914400" indent="0">
              <a:buFont typeface="Arial"/>
              <a:buNone/>
              <a:defRPr lang="ru-RU" sz="2000"/>
            </a:lvl3pPr>
            <a:lvl4pPr marL="1371600" indent="0">
              <a:buFont typeface="Arial"/>
              <a:buNone/>
              <a:defRPr lang="ru-RU" sz="1800"/>
            </a:lvl4pPr>
            <a:lvl5pPr marL="1828800" indent="0">
              <a:buFont typeface="Arial"/>
              <a:buNone/>
              <a:defRPr lang="ru-RU" sz="1800"/>
            </a:lvl5pPr>
            <a:lvl6pPr>
              <a:buNone/>
              <a:defRPr lang="ru-RU" sz="1800"/>
            </a:lvl6pPr>
            <a:lvl7pPr>
              <a:buNone/>
              <a:defRPr lang="ru-RU" sz="1800"/>
            </a:lvl7pPr>
            <a:lvl8pPr>
              <a:buNone/>
              <a:defRPr lang="ru-RU" sz="1800"/>
            </a:lvl8pPr>
            <a:lvl9pPr>
              <a:buNone/>
              <a:defRPr lang="ru-RU"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</a:rPr>
              <a:t>Основной текст слайда, ключевая формулировка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lang="ru-RU" sz="1600" baseline="0"/>
            </a:lvl1pPr>
            <a:lvl2pPr marL="457200" indent="0">
              <a:buFontTx/>
              <a:buNone/>
              <a:defRPr lang="ru-RU" sz="1600" baseline="0"/>
            </a:lvl2pPr>
            <a:lvl3pPr marL="914400" indent="0">
              <a:buFontTx/>
              <a:buNone/>
              <a:defRPr lang="ru-RU" sz="1600" baseline="0"/>
            </a:lvl3pPr>
            <a:lvl4pPr marL="1371600" indent="0">
              <a:buFontTx/>
              <a:buNone/>
              <a:defRPr lang="ru-RU" sz="1600" baseline="0"/>
            </a:lvl4pPr>
            <a:lvl5pPr>
              <a:buFontTx/>
              <a:buNone/>
              <a:defRPr lang="ru-RU" sz="1600" baseline="0"/>
            </a:lvl5pPr>
          </a:lstStyle>
          <a:p>
            <a:r>
              <a:rPr lang="ru-RU" sz="1600">
                <a:latin typeface="Golos Text"/>
                <a:ea typeface="Golos Text"/>
                <a:cs typeface="Golos Text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14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lang="ru-RU" sz="1200"/>
            </a:lvl1pPr>
            <a:lvl2pPr marL="457200" indent="0">
              <a:buNone/>
              <a:defRPr lang="ru-RU"/>
            </a:lvl2pPr>
            <a:lvl3pPr marL="914400" indent="0">
              <a:buNone/>
              <a:defRPr lang="ru-RU"/>
            </a:lvl3pPr>
            <a:lvl4pPr marL="1371600" indent="0">
              <a:buNone/>
              <a:defRPr lang="ru-RU"/>
            </a:lvl4pPr>
            <a:lvl5pPr marL="1828800" indent="0">
              <a:buFont typeface="Arial"/>
              <a:buNone/>
              <a:defRPr lang="ru-RU"/>
            </a:lvl5pPr>
          </a:lstStyle>
          <a:p>
            <a:r>
              <a:rPr lang="ru-RU" sz="1200">
                <a:latin typeface="Golos Text"/>
                <a:ea typeface="Golos Text"/>
                <a:cs typeface="Golos Text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lang="ru-RU" sz="1600" u="sng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lang="ru-RU" sz="1200"/>
            </a:lvl1pPr>
            <a:lvl2pPr marL="457200" indent="0">
              <a:buNone/>
              <a:defRPr lang="ru-RU"/>
            </a:lvl2pPr>
            <a:lvl3pPr marL="914400" indent="0">
              <a:buNone/>
              <a:defRPr lang="ru-RU"/>
            </a:lvl3pPr>
            <a:lvl4pPr marL="1371600" indent="0">
              <a:buNone/>
              <a:defRPr lang="ru-RU"/>
            </a:lvl4pPr>
            <a:lvl5pPr marL="1828800" indent="0">
              <a:buFont typeface="Arial"/>
              <a:buNone/>
              <a:defRPr lang="ru-RU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lang="ru-RU" sz="1200">
                <a:latin typeface="Golos Text"/>
                <a:ea typeface="Golos Text"/>
                <a:cs typeface="Golos Text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ru-RU" sz="1200" b="1" i="0">
              <a:solidFill>
                <a:srgbClr val="2C2D2E"/>
              </a:solidFill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12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lang="ru-RU" sz="1600" u="sng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lang="ru-RU" sz="1400" baseline="0"/>
            </a:lvl1pPr>
            <a:lvl2pPr marL="457200" indent="0">
              <a:buNone/>
              <a:defRPr lang="ru-RU" sz="1400" baseline="0"/>
            </a:lvl2pPr>
            <a:lvl3pPr marL="914400" indent="0">
              <a:buNone/>
              <a:defRPr lang="ru-RU" sz="1400" baseline="0"/>
            </a:lvl3pPr>
            <a:lvl4pPr marL="1371600" indent="0">
              <a:buNone/>
              <a:defRPr lang="ru-RU" sz="1400" baseline="0"/>
            </a:lvl4pPr>
            <a:lvl5pPr marL="1828800" indent="0">
              <a:buFont typeface="Arial"/>
              <a:buNone/>
              <a:defRPr lang="ru-RU" sz="1400" baseline="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lang="ru-RU" sz="1400">
                <a:latin typeface="Golos Text"/>
                <a:ea typeface="Golos Text"/>
                <a:cs typeface="Golos Text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ru-RU" sz="1400" b="1" i="0">
              <a:solidFill>
                <a:srgbClr val="2C2D2E"/>
              </a:solidFill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14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конец списка.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800" b="0" baseline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lang="ru-RU" sz="2400"/>
            </a:lvl2pPr>
            <a:lvl3pPr marL="914400" indent="0">
              <a:buFont typeface="Arial"/>
              <a:buNone/>
              <a:defRPr lang="ru-RU" sz="2000"/>
            </a:lvl3pPr>
            <a:lvl4pPr marL="1371600" indent="0">
              <a:buFont typeface="Arial"/>
              <a:buNone/>
              <a:defRPr lang="ru-RU" sz="1800"/>
            </a:lvl4pPr>
            <a:lvl5pPr marL="1828800" indent="0">
              <a:buFont typeface="Arial"/>
              <a:buNone/>
              <a:defRPr lang="ru-RU" sz="1800"/>
            </a:lvl5pPr>
            <a:lvl6pPr>
              <a:buNone/>
              <a:defRPr lang="ru-RU" sz="1800"/>
            </a:lvl6pPr>
            <a:lvl7pPr>
              <a:buNone/>
              <a:defRPr lang="ru-RU" sz="1800"/>
            </a:lvl7pPr>
            <a:lvl8pPr>
              <a:buNone/>
              <a:defRPr lang="ru-RU" sz="1800"/>
            </a:lvl8pPr>
            <a:lvl9pPr>
              <a:buNone/>
              <a:defRPr lang="ru-RU"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</a:rPr>
              <a:t>Основной текст слайда, ключевая формулировка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lang="ru-RU" sz="1600" baseline="0"/>
            </a:lvl1pPr>
            <a:lvl2pPr marL="457200" indent="0">
              <a:buFontTx/>
              <a:buNone/>
              <a:defRPr lang="ru-RU" sz="1600" baseline="0"/>
            </a:lvl2pPr>
            <a:lvl3pPr marL="914400" indent="0">
              <a:buFontTx/>
              <a:buNone/>
              <a:defRPr lang="ru-RU" sz="1600" baseline="0"/>
            </a:lvl3pPr>
            <a:lvl4pPr marL="1371600" indent="0">
              <a:buFontTx/>
              <a:buNone/>
              <a:defRPr lang="ru-RU" sz="1600" baseline="0"/>
            </a:lvl4pPr>
            <a:lvl5pPr>
              <a:buFontTx/>
              <a:buNone/>
              <a:defRPr lang="ru-RU" sz="1600" baseline="0"/>
            </a:lvl5pPr>
          </a:lstStyle>
          <a:p>
            <a:r>
              <a:rPr lang="ru-RU" sz="1600">
                <a:latin typeface="Golos Text"/>
                <a:ea typeface="Golos Text"/>
                <a:cs typeface="Golos Text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14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lang="ru-RU" sz="1200"/>
            </a:lvl1pPr>
            <a:lvl2pPr marL="457200" indent="0">
              <a:buNone/>
              <a:defRPr lang="ru-RU"/>
            </a:lvl2pPr>
            <a:lvl3pPr marL="914400" indent="0">
              <a:buNone/>
              <a:defRPr lang="ru-RU"/>
            </a:lvl3pPr>
            <a:lvl4pPr marL="1371600" indent="0">
              <a:buNone/>
              <a:defRPr lang="ru-RU"/>
            </a:lvl4pPr>
            <a:lvl5pPr marL="1828800" indent="0">
              <a:buFont typeface="Arial"/>
              <a:buNone/>
              <a:defRPr lang="ru-RU"/>
            </a:lvl5pPr>
          </a:lstStyle>
          <a:p>
            <a:r>
              <a:rPr lang="ru-RU" sz="1200">
                <a:latin typeface="Golos Text"/>
                <a:ea typeface="Golos Text"/>
                <a:cs typeface="Golos Text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lang="ru-RU" sz="1600" u="sng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lang="ru-RU" sz="1200"/>
            </a:lvl1pPr>
            <a:lvl2pPr marL="457200" indent="0">
              <a:buNone/>
              <a:defRPr lang="ru-RU"/>
            </a:lvl2pPr>
            <a:lvl3pPr marL="914400" indent="0">
              <a:buNone/>
              <a:defRPr lang="ru-RU"/>
            </a:lvl3pPr>
            <a:lvl4pPr marL="1371600" indent="0">
              <a:buNone/>
              <a:defRPr lang="ru-RU"/>
            </a:lvl4pPr>
            <a:lvl5pPr marL="1828800" indent="0">
              <a:buFont typeface="Arial"/>
              <a:buNone/>
              <a:defRPr lang="ru-RU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lang="ru-RU" sz="1200">
                <a:latin typeface="Golos Text"/>
                <a:ea typeface="Golos Text"/>
                <a:cs typeface="Golos Text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ru-RU" sz="1200" b="1" i="0">
              <a:solidFill>
                <a:srgbClr val="2C2D2E"/>
              </a:solidFill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12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lang="ru-RU" sz="1600" u="sng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lang="ru-RU" sz="1400" baseline="0"/>
            </a:lvl1pPr>
            <a:lvl2pPr marL="457200" indent="0">
              <a:buNone/>
              <a:defRPr lang="ru-RU" sz="1400" baseline="0"/>
            </a:lvl2pPr>
            <a:lvl3pPr marL="914400" indent="0">
              <a:buNone/>
              <a:defRPr lang="ru-RU" sz="1400" baseline="0"/>
            </a:lvl3pPr>
            <a:lvl4pPr marL="1371600" indent="0">
              <a:buNone/>
              <a:defRPr lang="ru-RU" sz="1400" baseline="0"/>
            </a:lvl4pPr>
            <a:lvl5pPr marL="1828800" indent="0">
              <a:buFont typeface="Arial"/>
              <a:buNone/>
              <a:defRPr lang="ru-RU" sz="1400" baseline="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lang="ru-RU" sz="1400">
                <a:latin typeface="Golos Text"/>
                <a:ea typeface="Golos Text"/>
                <a:cs typeface="Golos Text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ru-RU" sz="1400" b="1" i="0">
              <a:solidFill>
                <a:srgbClr val="2C2D2E"/>
              </a:solidFill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14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конец списка.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800" b="0" baseline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lang="ru-RU" sz="2400"/>
            </a:lvl2pPr>
            <a:lvl3pPr marL="914400" indent="0">
              <a:buFont typeface="Arial"/>
              <a:buNone/>
              <a:defRPr lang="ru-RU" sz="2000"/>
            </a:lvl3pPr>
            <a:lvl4pPr marL="1371600" indent="0">
              <a:buFont typeface="Arial"/>
              <a:buNone/>
              <a:defRPr lang="ru-RU" sz="1800"/>
            </a:lvl4pPr>
            <a:lvl5pPr marL="1828800" indent="0">
              <a:buFont typeface="Arial"/>
              <a:buNone/>
              <a:defRPr lang="ru-RU" sz="1800"/>
            </a:lvl5pPr>
            <a:lvl6pPr>
              <a:buNone/>
              <a:defRPr lang="ru-RU" sz="1800"/>
            </a:lvl6pPr>
            <a:lvl7pPr>
              <a:buNone/>
              <a:defRPr lang="ru-RU" sz="1800"/>
            </a:lvl7pPr>
            <a:lvl8pPr>
              <a:buNone/>
              <a:defRPr lang="ru-RU" sz="1800"/>
            </a:lvl8pPr>
            <a:lvl9pPr>
              <a:buNone/>
              <a:defRPr lang="ru-RU"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</a:rPr>
              <a:t>Основной текст слайда, ключевая формулировка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600" baseline="0"/>
            </a:lvl1pPr>
            <a:lvl2pPr marL="457200" indent="0">
              <a:buFontTx/>
              <a:buNone/>
              <a:defRPr lang="ru-RU" sz="1600" baseline="0"/>
            </a:lvl2pPr>
            <a:lvl3pPr marL="914400" indent="0">
              <a:buFontTx/>
              <a:buNone/>
              <a:defRPr lang="ru-RU" sz="1600" baseline="0"/>
            </a:lvl3pPr>
            <a:lvl4pPr marL="1371600" indent="0">
              <a:buFontTx/>
              <a:buNone/>
              <a:defRPr lang="ru-RU" sz="1600" baseline="0"/>
            </a:lvl4pPr>
            <a:lvl5pPr>
              <a:buFontTx/>
              <a:buNone/>
              <a:defRPr lang="ru-RU" sz="1600" baseline="0"/>
            </a:lvl5pPr>
          </a:lstStyle>
          <a:p>
            <a:r>
              <a:rPr lang="ru-RU" sz="1600">
                <a:latin typeface="Golos Text"/>
                <a:ea typeface="Golos Text"/>
                <a:cs typeface="Golos Text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16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16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список;</a:t>
            </a:r>
          </a:p>
          <a:p>
            <a:pPr algn="l">
              <a:buFont typeface="Arial"/>
              <a:buChar char="•"/>
            </a:pPr>
            <a:r>
              <a:rPr lang="ru-RU" sz="16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список;</a:t>
            </a:r>
          </a:p>
          <a:p>
            <a:pPr algn="l">
              <a:buFont typeface="Arial"/>
              <a:buChar char="•"/>
            </a:pPr>
            <a:r>
              <a:rPr lang="ru-RU" sz="16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конец списка.</a:t>
            </a:r>
          </a:p>
          <a:p>
            <a:pPr lvl="0">
              <a:buNone/>
            </a:pPr>
            <a:endParaRPr lang="ru-RU"/>
          </a:p>
          <a:p>
            <a:pPr lvl="0">
              <a:buNone/>
            </a:pPr>
            <a:endParaRPr lang="ru-RU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lang="ru-RU" sz="1200"/>
            </a:lvl1pPr>
            <a:lvl2pPr marL="457200" indent="0">
              <a:buNone/>
              <a:defRPr lang="ru-RU"/>
            </a:lvl2pPr>
            <a:lvl3pPr marL="914400" indent="0">
              <a:buNone/>
              <a:defRPr lang="ru-RU"/>
            </a:lvl3pPr>
            <a:lvl4pPr marL="1371600" indent="0">
              <a:buNone/>
              <a:defRPr lang="ru-RU"/>
            </a:lvl4pPr>
            <a:lvl5pPr marL="1828800" indent="0">
              <a:buFont typeface="Arial"/>
              <a:buNone/>
              <a:defRPr lang="ru-RU"/>
            </a:lvl5pPr>
          </a:lstStyle>
          <a:p>
            <a:r>
              <a:rPr lang="ru-RU" sz="1200">
                <a:latin typeface="Golos Text"/>
                <a:ea typeface="Golos Text"/>
                <a:cs typeface="Golos Text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lang="ru-RU" sz="1600" u="sng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lang="ru-RU" sz="1200"/>
            </a:lvl1pPr>
            <a:lvl2pPr marL="457200" indent="0">
              <a:buNone/>
              <a:defRPr lang="ru-RU"/>
            </a:lvl2pPr>
            <a:lvl3pPr marL="914400" indent="0">
              <a:buNone/>
              <a:defRPr lang="ru-RU"/>
            </a:lvl3pPr>
            <a:lvl4pPr marL="1371600" indent="0">
              <a:buNone/>
              <a:defRPr lang="ru-RU"/>
            </a:lvl4pPr>
            <a:lvl5pPr marL="1828800" indent="0">
              <a:buFont typeface="Arial"/>
              <a:buNone/>
              <a:defRPr lang="ru-RU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lang="ru-RU" sz="1200">
                <a:latin typeface="Golos Text"/>
                <a:ea typeface="Golos Text"/>
                <a:cs typeface="Golos Text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ru-RU" sz="1200" b="1" i="0">
              <a:solidFill>
                <a:srgbClr val="2C2D2E"/>
              </a:solidFill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12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2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lang="ru-RU" sz="1600" u="sng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solidFill>
                  <a:schemeClr val="bg1"/>
                </a:solidFill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lang="ru-RU" sz="1400" baseline="0"/>
            </a:lvl1pPr>
            <a:lvl2pPr marL="457200" indent="0">
              <a:buNone/>
              <a:defRPr lang="ru-RU" sz="1400" baseline="0"/>
            </a:lvl2pPr>
            <a:lvl3pPr marL="914400" indent="0">
              <a:buNone/>
              <a:defRPr lang="ru-RU" sz="1400" baseline="0"/>
            </a:lvl3pPr>
            <a:lvl4pPr marL="1371600" indent="0">
              <a:buNone/>
              <a:defRPr lang="ru-RU" sz="1400" baseline="0"/>
            </a:lvl4pPr>
            <a:lvl5pPr marL="1828800" indent="0">
              <a:buFont typeface="Arial"/>
              <a:buNone/>
              <a:defRPr lang="ru-RU" sz="1400" baseline="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</a:pPr>
            <a:r>
              <a:rPr lang="ru-RU" sz="1400">
                <a:latin typeface="Golos Text"/>
                <a:ea typeface="Golos Text"/>
                <a:cs typeface="Golos Text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ru-RU" sz="1400" b="1" i="0">
              <a:solidFill>
                <a:srgbClr val="2C2D2E"/>
              </a:solidFill>
              <a:latin typeface="Golos Text"/>
              <a:ea typeface="Golos Text"/>
              <a:cs typeface="Golos Text"/>
            </a:endParaRPr>
          </a:p>
          <a:p>
            <a:pPr marL="0" indent="0" algn="l">
              <a:buNone/>
            </a:pPr>
            <a:r>
              <a:rPr lang="ru-RU" sz="1400" b="1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Начало списка: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список;</a:t>
            </a:r>
          </a:p>
          <a:p>
            <a:pPr algn="l">
              <a:buFont typeface="Arial"/>
              <a:buChar char="•"/>
            </a:pPr>
            <a:r>
              <a:rPr lang="ru-RU" sz="1400" b="0" i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конец списка.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lang="ru-RU" sz="1400" baseline="0"/>
            </a:lvl1pPr>
            <a:lvl2pPr marL="457200" indent="0">
              <a:buNone/>
              <a:defRPr lang="ru-RU" sz="1400" baseline="0"/>
            </a:lvl2pPr>
            <a:lvl3pPr marL="914400" indent="0">
              <a:buNone/>
              <a:defRPr lang="ru-RU" sz="1400" baseline="0"/>
            </a:lvl3pPr>
            <a:lvl4pPr marL="1371600" indent="0">
              <a:buNone/>
              <a:defRPr lang="ru-RU" sz="1400" baseline="0"/>
            </a:lvl4pPr>
            <a:lvl5pPr marL="1828800" indent="0">
              <a:buFont typeface="Arial"/>
              <a:buNone/>
              <a:defRPr lang="ru-RU" sz="1400" baseline="0"/>
            </a:lvl5pPr>
          </a:lstStyle>
          <a:p>
            <a:r>
              <a:rPr lang="ru-RU" sz="1400">
                <a:latin typeface="Golos Text"/>
                <a:ea typeface="Golos Text"/>
                <a:cs typeface="Golos Text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lang="ru-RU" sz="1400" baseline="0">
                <a:solidFill>
                  <a:schemeClr val="bg1"/>
                </a:solidFill>
              </a:defRPr>
            </a:lvl1pPr>
            <a:lvl2pPr marL="457200" indent="0">
              <a:buNone/>
              <a:defRPr lang="ru-RU" sz="1400" baseline="0"/>
            </a:lvl2pPr>
            <a:lvl3pPr marL="914400" indent="0">
              <a:buNone/>
              <a:defRPr lang="ru-RU" sz="1400" baseline="0"/>
            </a:lvl3pPr>
            <a:lvl4pPr marL="1371600" indent="0">
              <a:buNone/>
              <a:defRPr lang="ru-RU" sz="1400" baseline="0"/>
            </a:lvl4pPr>
            <a:lvl5pPr marL="1828800" indent="0">
              <a:buFont typeface="Arial"/>
              <a:buNone/>
              <a:defRPr lang="ru-RU" sz="1400" baseline="0"/>
            </a:lvl5pPr>
          </a:lstStyle>
          <a:p>
            <a:r>
              <a:rPr lang="ru-RU" sz="1400">
                <a:latin typeface="Golos Text"/>
                <a:ea typeface="Golos Text"/>
                <a:cs typeface="Golos Text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lang="ru-RU" sz="1400" baseline="0">
                <a:solidFill>
                  <a:schemeClr val="bg1"/>
                </a:solidFill>
              </a:defRPr>
            </a:lvl1pPr>
            <a:lvl2pPr marL="457200" indent="0">
              <a:buNone/>
              <a:defRPr lang="ru-RU" sz="1400" baseline="0"/>
            </a:lvl2pPr>
            <a:lvl3pPr marL="914400" indent="0">
              <a:buNone/>
              <a:defRPr lang="ru-RU" sz="1400" baseline="0"/>
            </a:lvl3pPr>
            <a:lvl4pPr marL="1371600" indent="0">
              <a:buNone/>
              <a:defRPr lang="ru-RU" sz="1400" baseline="0"/>
            </a:lvl4pPr>
            <a:lvl5pPr marL="1828800" indent="0">
              <a:buFont typeface="Arial"/>
              <a:buNone/>
              <a:defRPr lang="ru-RU" sz="1400" baseline="0"/>
            </a:lvl5pPr>
          </a:lstStyle>
          <a:p>
            <a:r>
              <a:rPr lang="ru-RU" sz="1400">
                <a:latin typeface="Golos Text"/>
                <a:ea typeface="Golos Text"/>
                <a:cs typeface="Golos Text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lang="ru-RU" sz="1400" baseline="0">
                <a:solidFill>
                  <a:schemeClr val="bg1"/>
                </a:solidFill>
              </a:defRPr>
            </a:lvl1pPr>
            <a:lvl2pPr marL="457200" indent="0">
              <a:buNone/>
              <a:defRPr lang="ru-RU" sz="1400" baseline="0"/>
            </a:lvl2pPr>
            <a:lvl3pPr marL="914400" indent="0">
              <a:buNone/>
              <a:defRPr lang="ru-RU" sz="1400" baseline="0"/>
            </a:lvl3pPr>
            <a:lvl4pPr marL="1371600" indent="0">
              <a:buNone/>
              <a:defRPr lang="ru-RU" sz="1400" baseline="0"/>
            </a:lvl4pPr>
            <a:lvl5pPr marL="1828800" indent="0">
              <a:buFont typeface="Arial"/>
              <a:buNone/>
              <a:defRPr lang="ru-RU" sz="1400" baseline="0"/>
            </a:lvl5pPr>
          </a:lstStyle>
          <a:p>
            <a:r>
              <a:rPr lang="ru-RU" sz="1400">
                <a:latin typeface="Golos Text"/>
                <a:ea typeface="Golos Text"/>
                <a:cs typeface="Golos Text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65B2B28D-F8F0-4702-AFA9-6A0AA77E1CA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200" b="1" i="0" baseline="0"/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E624205A-946A-4979-A674-F6F1288A5D6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200" b="1" i="0" baseline="0"/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8FE248D6-0072-4355-B2F5-2312B65D9A5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200" b="1" i="0" baseline="0"/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7D12391-622D-450F-B47C-05853BE2CF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lang="ru-RU" sz="1200" baseline="0"/>
            </a:lvl1pPr>
            <a:lvl2pPr>
              <a:buNone/>
              <a:defRPr lang="ru-RU" sz="1600"/>
            </a:lvl2pPr>
            <a:lvl3pPr>
              <a:buNone/>
              <a:defRPr lang="ru-RU" sz="1600"/>
            </a:lvl3pPr>
            <a:lvl4pPr>
              <a:buNone/>
              <a:defRPr lang="ru-RU" sz="1600"/>
            </a:lvl4pPr>
            <a:lvl5pPr>
              <a:buNone/>
              <a:defRPr lang="ru-RU" sz="1600"/>
            </a:lvl5pPr>
            <a:lvl6pPr>
              <a:buNone/>
              <a:defRPr lang="ru-RU" sz="1800"/>
            </a:lvl6pPr>
            <a:lvl7pPr>
              <a:buNone/>
              <a:defRPr lang="ru-RU" sz="1800"/>
            </a:lvl7pPr>
            <a:lvl8pPr>
              <a:buNone/>
              <a:defRPr lang="ru-RU" sz="1800"/>
            </a:lvl8pPr>
            <a:lvl9pPr>
              <a:buNone/>
              <a:defRPr lang="ru-RU" sz="1800"/>
            </a:lvl9pPr>
          </a:lstStyle>
          <a:p>
            <a:pPr lvl="0">
              <a:buNone/>
            </a:pPr>
            <a:r>
              <a:rPr lang="ru-RU"/>
              <a:t>Текст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DD8E076-1454-4C1E-972A-A2FE86847FBB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lang="ru-RU" sz="1200" baseline="0"/>
            </a:lvl1pPr>
            <a:lvl2pPr>
              <a:buNone/>
              <a:defRPr lang="ru-RU" sz="1200" baseline="0"/>
            </a:lvl2pPr>
            <a:lvl3pPr>
              <a:buNone/>
              <a:defRPr lang="ru-RU" sz="1200" baseline="0"/>
            </a:lvl3pPr>
            <a:lvl4pPr>
              <a:buNone/>
              <a:defRPr lang="ru-RU" sz="1200" baseline="0"/>
            </a:lvl4pPr>
            <a:lvl5pPr>
              <a:buNone/>
              <a:defRPr lang="ru-RU" sz="1200" baseline="0"/>
            </a:lvl5pPr>
            <a:lvl6pPr>
              <a:buNone/>
              <a:defRPr lang="ru-RU" sz="1800"/>
            </a:lvl6pPr>
            <a:lvl7pPr>
              <a:buNone/>
              <a:defRPr lang="ru-RU" sz="1800"/>
            </a:lvl7pPr>
            <a:lvl8pPr>
              <a:buNone/>
              <a:defRPr lang="ru-RU" sz="1800"/>
            </a:lvl8pPr>
            <a:lvl9pPr>
              <a:buNone/>
              <a:defRPr lang="ru-RU" sz="1800"/>
            </a:lvl9pPr>
          </a:lstStyle>
          <a:p>
            <a:pPr lvl="0">
              <a:buNone/>
            </a:pPr>
            <a:r>
              <a:rPr lang="ru-RU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lang="ru-RU" sz="1200" baseline="0"/>
            </a:lvl1pPr>
            <a:lvl2pPr>
              <a:buNone/>
              <a:defRPr lang="ru-RU" sz="1200" baseline="0"/>
            </a:lvl2pPr>
            <a:lvl3pPr>
              <a:buNone/>
              <a:defRPr lang="ru-RU" sz="1200" baseline="0"/>
            </a:lvl3pPr>
            <a:lvl4pPr>
              <a:buNone/>
              <a:defRPr lang="ru-RU" sz="1200" baseline="0"/>
            </a:lvl4pPr>
            <a:lvl5pPr>
              <a:buNone/>
              <a:defRPr lang="ru-RU" sz="1200" baseline="0"/>
            </a:lvl5pPr>
            <a:lvl6pPr>
              <a:buNone/>
              <a:defRPr lang="ru-RU" sz="1800"/>
            </a:lvl6pPr>
            <a:lvl7pPr>
              <a:buNone/>
              <a:defRPr lang="ru-RU" sz="1800"/>
            </a:lvl7pPr>
            <a:lvl8pPr>
              <a:buNone/>
              <a:defRPr lang="ru-RU" sz="1800"/>
            </a:lvl8pPr>
            <a:lvl9pPr>
              <a:buNone/>
              <a:defRPr lang="ru-RU" sz="1800"/>
            </a:lvl9pPr>
          </a:lstStyle>
          <a:p>
            <a:pPr lvl="0">
              <a:buNone/>
            </a:pPr>
            <a:r>
              <a:rPr lang="ru-RU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lang="ru-RU" sz="1400" b="0" i="0" baseline="0"/>
            </a:lvl1pPr>
            <a:lvl2pPr marL="457200" indent="0">
              <a:buNone/>
              <a:defRPr lang="ru-RU" sz="1400" baseline="0"/>
            </a:lvl2pPr>
            <a:lvl3pPr marL="914400" indent="0">
              <a:buNone/>
              <a:defRPr lang="ru-RU" sz="1400" baseline="0"/>
            </a:lvl3pPr>
            <a:lvl4pPr marL="1371600" indent="0">
              <a:buNone/>
              <a:defRPr lang="ru-RU" sz="1400" baseline="0"/>
            </a:lvl4pPr>
            <a:lvl5pPr marL="1828800" indent="0">
              <a:buFont typeface="Arial"/>
              <a:buNone/>
              <a:defRPr lang="ru-RU" sz="1400" baseline="0"/>
            </a:lvl5pPr>
          </a:lstStyle>
          <a:p>
            <a:pPr lvl="0">
              <a:buNone/>
            </a:pPr>
            <a:r>
              <a:rPr lang="ru-RU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lang="ru-RU" sz="1800" b="1" i="0" baseline="0"/>
            </a:lvl1pPr>
            <a:lvl2pPr marL="457200" indent="0">
              <a:buNone/>
              <a:defRPr lang="ru-RU" sz="1400" baseline="0"/>
            </a:lvl2pPr>
            <a:lvl3pPr marL="914400" indent="0">
              <a:buNone/>
              <a:defRPr lang="ru-RU" sz="1400" baseline="0"/>
            </a:lvl3pPr>
            <a:lvl4pPr marL="1371600" indent="0">
              <a:buNone/>
              <a:defRPr lang="ru-RU" sz="1400" baseline="0"/>
            </a:lvl4pPr>
            <a:lvl5pPr marL="1828800" indent="0">
              <a:buFont typeface="Arial"/>
              <a:buNone/>
              <a:defRPr lang="ru-RU" sz="1400" baseline="0"/>
            </a:lvl5pPr>
          </a:lstStyle>
          <a:p>
            <a:pPr lvl="0">
              <a:buNone/>
            </a:pPr>
            <a:r>
              <a:rPr lang="ru-RU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ECEFEE4-7D8A-48DB-B0D3-4F7CEAF834D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200" b="1" i="0" baseline="0"/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D32FF7A-E9B9-445A-B189-DF505FB23B69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200" b="1" i="0" baseline="0"/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C95914E2-675E-4EAC-96A6-FB9029C2767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200" b="1" i="0" baseline="0"/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buNone/>
              <a:defRPr lang="ru-RU" sz="3200" baseline="0">
                <a:latin typeface="Golos Text DemiBold"/>
                <a:ea typeface="Golos Text DemiBold"/>
                <a:cs typeface="Golos Text DemiBold"/>
              </a:defRPr>
            </a:lvl1pPr>
          </a:lstStyle>
          <a:p>
            <a:r>
              <a:rPr lang="ru-RU"/>
              <a:t>Заголовок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buNone/>
              <a:defRPr lang="ru-RU"/>
            </a:lvl1pPr>
          </a:lstStyle>
          <a:p>
            <a:r>
              <a:rPr lang="ru-RU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buNone/>
              <a:defRPr lang="ru-RU"/>
            </a:lvl1pPr>
          </a:lstStyle>
          <a:p>
            <a:r>
              <a:rPr lang="ru-RU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buNone/>
              <a:defRPr lang="ru-RU"/>
            </a:lvl1pPr>
          </a:lstStyle>
          <a:p>
            <a:r>
              <a:rPr lang="ru-RU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200" b="1" i="0" baseline="0"/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200" b="1" i="0" baseline="0"/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lang="ru-RU" sz="1200" b="1" i="0" baseline="0"/>
            </a:lvl1pPr>
          </a:lstStyle>
          <a:p>
            <a:pPr lvl="0">
              <a:buNone/>
            </a:pPr>
            <a:r>
              <a:rPr lang="ru-RU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buNone/>
              <a:defRPr lang="ru-RU"/>
            </a:lvl1pPr>
          </a:lstStyle>
          <a:p>
            <a:r>
              <a:rPr lang="ru-RU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buNone/>
              <a:defRPr lang="ru-RU"/>
            </a:lvl1pPr>
          </a:lstStyle>
          <a:p>
            <a:r>
              <a:rPr lang="ru-RU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buNone/>
              <a:defRPr lang="ru-RU"/>
            </a:lvl1pPr>
          </a:lstStyle>
          <a:p>
            <a:r>
              <a:rPr lang="ru-RU"/>
              <a:t>Изображение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6BB737-84D5-4F0D-B907-734285AA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ru-RU"/>
              <a:t>Заголовок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F4C78-7AD4-4394-A905-D051084D0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BB5EE-877F-48A7-909E-9BCEFC29ECBE}"/>
              </a:ext>
            </a:extLst>
          </p:cNvPr>
          <p:cNvSpPr>
            <a:spLocks noGrp="1"/>
          </p:cNvSpPr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>
            <a:spLocks noGrp="1"/>
          </p:cNvSpPr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dt="0"/>
  <p:txStyles>
    <p:titleStyle>
      <a:lvl1pPr algn="l" defTabSz="457200">
        <a:spcBef>
          <a:spcPct val="0"/>
        </a:spcBef>
        <a:buNone/>
        <a:defRPr lang="ru-RU" sz="3600" b="1" i="0" kern="1200" baseline="0">
          <a:solidFill>
            <a:schemeClr val="tx1"/>
          </a:solidFill>
          <a:latin typeface="ALS Gorizont Bold Expanded"/>
          <a:ea typeface="ALS Gorizont Bold Expanded"/>
          <a:cs typeface="ALS Gorizont Bold Expanded"/>
        </a:defRPr>
      </a:lvl1pPr>
    </p:titleStyle>
    <p:bodyStyle>
      <a:lvl1pPr marL="0" indent="0" algn="l" defTabSz="457200">
        <a:spcBef>
          <a:spcPct val="20000"/>
        </a:spcBef>
        <a:buSzPct val="100000"/>
        <a:buFont typeface="Arial"/>
        <a:buNone/>
        <a:defRPr lang="ru-RU" sz="2000" kern="1200">
          <a:solidFill>
            <a:schemeClr val="tx1"/>
          </a:solidFill>
          <a:latin typeface="Golos Text"/>
          <a:ea typeface="Golos Text"/>
          <a:cs typeface="Golos Text"/>
        </a:defRPr>
      </a:lvl1pPr>
      <a:lvl2pPr marL="742950" indent="-285750" algn="l" defTabSz="457200">
        <a:spcBef>
          <a:spcPct val="20000"/>
        </a:spcBef>
        <a:buFont typeface="Arial"/>
        <a:buChar char="•"/>
        <a:defRPr lang="ru-RU" sz="2000" kern="1200">
          <a:solidFill>
            <a:schemeClr val="tx1"/>
          </a:solidFill>
          <a:latin typeface="Golos Text"/>
          <a:ea typeface="Golos Text"/>
          <a:cs typeface="Golos Tex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lang="ru-RU" sz="1600" kern="1200">
          <a:solidFill>
            <a:schemeClr val="tx1"/>
          </a:solidFill>
          <a:latin typeface="Golos Text"/>
          <a:ea typeface="Golos Text"/>
          <a:cs typeface="Golos Text"/>
        </a:defRPr>
      </a:lvl3pPr>
      <a:lvl4pPr marL="1600200" indent="-228600" algn="l" defTabSz="457200">
        <a:spcBef>
          <a:spcPct val="20000"/>
        </a:spcBef>
        <a:buFont typeface="Arial"/>
        <a:buChar char="•"/>
        <a:defRPr lang="ru-RU" sz="1600" kern="1200">
          <a:solidFill>
            <a:schemeClr val="tx1"/>
          </a:solidFill>
          <a:latin typeface="Golos Text"/>
          <a:ea typeface="Golos Text"/>
          <a:cs typeface="Golos Text"/>
        </a:defRPr>
      </a:lvl4pPr>
      <a:lvl5pPr marL="1828800" indent="0" algn="l" defTabSz="457200">
        <a:spcBef>
          <a:spcPct val="20000"/>
        </a:spcBef>
        <a:buFont typeface="Arial"/>
        <a:buNone/>
        <a:defRPr lang="ru-RU" sz="1600" kern="1200">
          <a:solidFill>
            <a:schemeClr val="tx1"/>
          </a:solidFill>
          <a:latin typeface="Golos Text"/>
          <a:ea typeface="Golos Text"/>
          <a:cs typeface="Golos Tex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lang="ru-RU"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lang="ru-RU"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lang="ru-RU"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lang="ru-RU"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lang="ru-RU"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lang="ru-RU"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lang="ru-RU"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lang="ru-RU"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lang="ru-RU"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lang="ru-RU"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lang="ru-RU"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lang="ru-RU"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lang="ru-RU"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server.tech/docs/v2.12/d0/d7b/md_en_2userver_2development_2releases.html" TargetMode="External"/><Relationship Id="rId5" Type="http://schemas.openxmlformats.org/officeDocument/2006/relationships/hyperlink" Target="https://www.microsoft.com/en-us/security/blog/2020/09/15/microsoft-onefuzz-framework-open-source-developer-tool-fix-bugs/" TargetMode="External"/><Relationship Id="rId4" Type="http://schemas.openxmlformats.org/officeDocument/2006/relationships/hyperlink" Target="https://github.com/google/oss-fuzz#trophies" TargetMode="External"/><Relationship Id="rIdNarrative0" Type="http://schemas.openxmlformats.org/officeDocument/2006/relationships/hyperlink" Target="https://github.com/google/oss-fuzz#trophies" TargetMode="External"/><Relationship Id="rIdNarrative1" Type="http://schemas.openxmlformats.org/officeDocument/2006/relationships/hyperlink" Target="https://www.microsoft.com/en-us/security/blog/2020/09/15/microsoft-onefuzz-framework-open-source-developer-tool-fix-bugs/" TargetMode="Externa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Narrative0" Type="http://schemas.openxmlformats.org/officeDocument/2006/relationships/hyperlink" Target="https://userver.tech/" TargetMode="External"/><Relationship Id="rIdNarrative1" Type="http://schemas.openxmlformats.org/officeDocument/2006/relationships/hyperlink" Target="https://userver.tech/df/d07/md_en_2userver_2functional__testing.html" TargetMode="External"/><Relationship Id="rIdNarrative2" Type="http://schemas.openxmlformats.org/officeDocument/2006/relationships/hyperlink" Target="https://userver.tech/docs/v2.12/d0/d7b/md_en_2userver_2development_2releases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DCB2ED-C2C7-4F73-9707-07714E4F47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C3D9BF4-554E-46BF-BF2F-59A2909B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2047875"/>
            <a:ext cx="7620000" cy="1047750"/>
          </a:xfrm>
        </p:spPr>
        <p:txBody>
          <a:bodyPr lIns="0" tIns="0" rIns="0" bIns="0">
            <a:noAutofit/>
          </a:bodyPr>
          <a:lstStyle>
            <a:defPPr algn="ctr"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defPPr>
            <a:lvl1pPr algn="ctr"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1pPr>
            <a:lvl2pPr algn="ctr"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2pPr>
            <a:lvl3pPr algn="ctr"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3pPr>
            <a:lvl4pPr algn="ctr"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4pPr>
            <a:lvl5pPr algn="ctr"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5pPr>
            <a:lvl6pPr algn="ctr"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6pPr>
            <a:lvl7pPr algn="ctr"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7pPr>
            <a:lvl8pPr algn="ctr"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8pPr>
            <a:lvl9pPr algn="ctr"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 algn="ctr">
              <a:buNone/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Разработка </a:t>
            </a:r>
            <a:r>
              <a:rPr lang="ru-RU"/>
              <a:t>инструмента</a:t>
            </a:r>
            <a:r>
              <a: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 </a:t>
            </a:r>
            <a:r>
              <a:rPr lang="ru-RU" sz="2850" b="1" err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фаззинга</a:t>
            </a:r>
            <a:endParaRPr lang="ru-RU" sz="4400">
              <a:solidFill>
                <a:schemeClr val="bg1"/>
              </a:solidFill>
            </a:endParaRPr>
          </a:p>
          <a:p>
            <a:pPr algn="ctr">
              <a:buNone/>
              <a:defRPr lang="ru-RU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lang="en-US" sz="2850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сервисов на userver</a:t>
            </a:r>
            <a:endParaRPr lang="ru-RU" sz="4400">
              <a:solidFill>
                <a:schemeClr val="bg1"/>
              </a:solidFill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68B0D255-1FAD-41E8-920A-0E6D871E322E}"/>
              </a:ext>
            </a:extLst>
          </p:cNvPr>
          <p:cNvSpPr>
            <a:spLocks noGrp="1"/>
          </p:cNvSpPr>
          <p:nvPr/>
        </p:nvSpPr>
        <p:spPr>
          <a:xfrm>
            <a:off x="4271462" y="4286250"/>
            <a:ext cx="4110538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defPPr>
            <a:lvl1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1pPr>
            <a:lvl2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2pPr>
            <a:lvl3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3pPr>
            <a:lvl4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4pPr>
            <a:lvl5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5pPr>
            <a:lvl6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6pPr>
            <a:lvl7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7pPr>
            <a:lvl8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8pPr>
            <a:lvl9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 algn="l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425" b="0" err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Автор</a:t>
            </a:r>
            <a:r>
              <a: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: </a:t>
            </a:r>
            <a:r>
              <a:rPr lang="ru-RU"/>
              <a:t>Скрябин Иван Александрович</a:t>
            </a:r>
            <a:endParaRPr lang="ru-RU" sz="1425" b="0">
              <a:solidFill>
                <a:srgbClr val="FFFFFF"/>
              </a:solidFill>
              <a:latin typeface="Golos Text"/>
              <a:ea typeface="Golos Text"/>
              <a:cs typeface="Golos Text"/>
            </a:endParaRPr>
          </a:p>
        </p:txBody>
      </p:sp>
      <p:sp>
        <p:nvSpPr>
          <p:cNvPr id="10" name="supervisor">
            <a:extLst>
              <a:ext uri="{FF2B5EF4-FFF2-40B4-BE49-F238E27FC236}">
                <a16:creationId xmlns:a16="http://schemas.microsoft.com/office/drawing/2014/main" id="{5AFAB234-403E-439B-8BC2-26488FBE67C6}"/>
              </a:ext>
            </a:extLst>
          </p:cNvPr>
          <p:cNvSpPr>
            <a:spLocks noGrp="1"/>
          </p:cNvSpPr>
          <p:nvPr/>
        </p:nvSpPr>
        <p:spPr>
          <a:xfrm>
            <a:off x="4271462" y="4562475"/>
            <a:ext cx="4110537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defPPr>
            <a:lvl1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1pPr>
            <a:lvl2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2pPr>
            <a:lvl3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3pPr>
            <a:lvl4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4pPr>
            <a:lvl5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5pPr>
            <a:lvl6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6pPr>
            <a:lvl7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7pPr>
            <a:lvl8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8pPr>
            <a:lvl9pPr algn="ctr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 algn="l">
              <a:def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425" b="0" err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Научный</a:t>
            </a:r>
            <a:r>
              <a: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 </a:t>
            </a:r>
            <a:r>
              <a:rPr lang="ru-RU" sz="1425" b="0" err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руководитель</a:t>
            </a:r>
            <a:r>
              <a:rPr lang="ru-RU"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: </a:t>
            </a:r>
            <a:r>
              <a:rPr lang="ru-RU"/>
              <a:t>Степанов Даниил Сергеевич</a:t>
            </a:r>
            <a:endParaRPr lang="ru-RU" sz="1425" b="0">
              <a:solidFill>
                <a:srgbClr val="FFFFFF"/>
              </a:solidFill>
              <a:latin typeface="Golos Text"/>
              <a:ea typeface="Golos Text"/>
              <a:cs typeface="Golos Text"/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BEDAA4-A0F7-426D-B8B6-8ABB3F5F8E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225"/>
            <a:ext cx="6743700" cy="581025"/>
          </a:xfrm>
        </p:spPr>
        <p:txBody>
          <a:bodyPr lIns="0" tIns="0" rIns="0" bIns="0">
            <a:noAutofit/>
          </a:bodyPr>
          <a:lstStyle>
            <a:def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600" b="1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Актуальность фаззинга</a:t>
            </a:r>
            <a:endParaRPr lang="ru-RU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C8CEF388-D499-452F-A74E-2CDEB8B531CB}"/>
              </a:ext>
            </a:extLst>
          </p:cNvPr>
          <p:cNvSpPr>
            <a:spLocks noGrp="1"/>
          </p:cNvSpPr>
          <p:nvPr/>
        </p:nvSpPr>
        <p:spPr>
          <a:xfrm>
            <a:off x="8248650" y="4543425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975" b="0" dirty="1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2</a:t>
            </a:r>
            <a:endParaRPr lang="ru-RU"/>
          </a:p>
        </p:txBody>
      </p:sp>
      <p:sp>
        <p:nvSpPr>
          <p:cNvPr id="6" name="parameter-title">
            <a:extLst>
              <a:ext uri="{FF2B5EF4-FFF2-40B4-BE49-F238E27FC236}">
                <a16:creationId xmlns:a16="http://schemas.microsoft.com/office/drawing/2014/main" id="{C77CE6D6-B57E-4666-BCAE-9695D868B6E3}"/>
              </a:ext>
            </a:extLst>
          </p:cNvPr>
          <p:cNvSpPr>
            <a:spLocks noGrp="1"/>
          </p:cNvSpPr>
          <p:nvPr/>
        </p:nvSpPr>
        <p:spPr>
          <a:xfrm>
            <a:off x="571500" y="1323975"/>
            <a:ext cx="771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00" b="1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Поиск ошибок до выпуска сервиса</a:t>
            </a:r>
            <a:endParaRPr lang="ru-RU"/>
          </a:p>
        </p:txBody>
      </p:sp>
      <p:sp>
        <p:nvSpPr>
          <p:cNvPr id="7" name="parameter-text">
            <a:extLst>
              <a:ext uri="{FF2B5EF4-FFF2-40B4-BE49-F238E27FC236}">
                <a16:creationId xmlns:a16="http://schemas.microsoft.com/office/drawing/2014/main" id="{39A79D49-D7B0-4990-812E-B1A21A0AFCE5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771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Фаззинг автоматически генерирует и изменяет входные данные,</a:t>
            </a:r>
            <a:endParaRPr lang="ru-RU"/>
          </a:p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чтобы находить ошибки за пределами заранее написанных тестов.</a:t>
            </a:r>
            <a:endParaRPr lang="ru-RU"/>
          </a:p>
        </p:txBody>
      </p:sp>
      <p:sp>
        <p:nvSpPr>
          <p:cNvPr id="8" name="state-title">
            <a:extLst>
              <a:ext uri="{FF2B5EF4-FFF2-40B4-BE49-F238E27FC236}">
                <a16:creationId xmlns:a16="http://schemas.microsoft.com/office/drawing/2014/main" id="{A22691A7-1D07-45FD-BE02-732939690C43}"/>
              </a:ext>
            </a:extLst>
          </p:cNvPr>
          <p:cNvSpPr>
            <a:spLocks noGrp="1"/>
          </p:cNvSpPr>
          <p:nvPr/>
        </p:nvSpPr>
        <p:spPr>
          <a:xfrm>
            <a:off x="571500" y="2438400"/>
            <a:ext cx="771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00" b="1" dirty="1" err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Фаззинг в промышленной разработке</a:t>
            </a:r>
            <a:endParaRPr lang="ru-RU"/>
          </a:p>
        </p:txBody>
      </p:sp>
      <p:sp>
        <p:nvSpPr>
          <p:cNvPr id="9" name="state-text">
            <a:extLst>
              <a:ext uri="{FF2B5EF4-FFF2-40B4-BE49-F238E27FC236}">
                <a16:creationId xmlns:a16="http://schemas.microsoft.com/office/drawing/2014/main" id="{B876764D-E4FD-4436-B7EF-1C1FE6292817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771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OSS-Fuzz: 13 000+ уязвимостей в 1 000 проектах</a:t>
            </a:r>
            <a:endParaRPr lang="ru-RU"/>
          </a:p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к маю 2025 [1]. Microsoft применяет OneFuzz в Windows и Edge [2].</a:t>
            </a:r>
            <a:endParaRPr lang="ru-RU"/>
          </a:p>
        </p:txBody>
      </p:sp>
      <p:sp>
        <p:nvSpPr>
          <p:cNvPr id="3" name="integration-title">
            <a:extLst>
              <a:ext uri="{FF2B5EF4-FFF2-40B4-BE49-F238E27FC236}">
                <a16:creationId xmlns:a16="http://schemas.microsoft.com/office/drawing/2014/main" id="{9C242695-7421-37AD-A6F0-38E4B97865E3}"/>
              </a:ext>
            </a:extLst>
          </p:cNvPr>
          <p:cNvSpPr>
            <a:spLocks noGrp="1"/>
          </p:cNvSpPr>
          <p:nvPr/>
        </p:nvSpPr>
        <p:spPr>
          <a:xfrm>
            <a:off x="571500" y="3571875"/>
            <a:ext cx="771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dirty="1" sz="1800" b="1"/>
              <a:t>Высокий порог подключения к сервису</a:t>
            </a:r>
            <a:endParaRPr lang="ru-RU"/>
          </a:p>
        </p:txBody>
      </p:sp>
      <p:sp>
        <p:nvSpPr>
          <p:cNvPr id="13" name="integration-text">
            <a:extLst>
              <a:ext uri="{FF2B5EF4-FFF2-40B4-BE49-F238E27FC236}">
                <a16:creationId xmlns:a16="http://schemas.microsoft.com/office/drawing/2014/main" id="{DFBE82EF-2695-34D7-8731-FA860AB7F221}"/>
              </a:ext>
            </a:extLst>
          </p:cNvPr>
          <p:cNvSpPr>
            <a:spLocks noGrp="1"/>
          </p:cNvSpPr>
          <p:nvPr/>
        </p:nvSpPr>
        <p:spPr>
          <a:xfrm>
            <a:off x="571500" y="3933825"/>
            <a:ext cx="771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dirty="1" sz="1650" b="0"/>
              <a:t>Подключение фаззинга требует изоляции окружения</a:t>
            </a:r>
            <a:endParaRPr lang="ru-RU"/>
          </a:p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dirty="1" sz="1650" b="0"/>
              <a:t>и контроля состояния между тестовыми примерами.</a:t>
            </a:r>
            <a:endParaRPr lang="ru-RU"/>
          </a:p>
        </p:txBody>
      </p:sp>
      <p:sp>
        <p:nvSpPr>
          <p:cNvPr id="14" name="narrative-sources">
            <a:extLst>
              <a:ext uri="{FF2B5EF4-FFF2-40B4-BE49-F238E27FC236}">
                <a16:creationId xmlns:a16="http://schemas.microsoft.com/office/drawing/2014/main" id="{39A79D49-D7B0-4990-812E-B1A21A0AFCE5}"/>
              </a:ext>
            </a:extLst>
          </p:cNvPr>
          <p:cNvSpPr>
            <a:spLocks noGrp="1"/>
          </p:cNvSpPr>
          <p:nvPr/>
        </p:nvSpPr>
        <p:spPr>
          <a:xfrm>
            <a:off x="571500" y="45434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000" b="0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Источники: </a:t>
            </a:r>
            <a:endParaRPr lang="ru-RU"/>
            <a:r>
              <a:rPr lang="en-US" sz="1000" u="sng">
                <a:solidFill>
                  <a:srgbClr val="5541B7"/>
                </a:solidFill>
                <a:hlinkClick r:id="rIdNarrative0"/>
              </a:rPr>
              <a:t>[1] Google OSS-Fuzz    </a:t>
            </a:r>
            <a:r>
              <a:rPr lang="en-US" sz="1000" u="sng">
                <a:solidFill>
                  <a:srgbClr val="5541B7"/>
                </a:solidFill>
                <a:hlinkClick r:id="rIdNarrative1"/>
              </a:rPr>
              <a:t>[2] Microsoft OneFuzz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18EC8D-1EE1-429D-BC23-2472346AD1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A3AE0-A218-4F8B-911E-C9CF5FDD6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225"/>
            <a:ext cx="6743700" cy="581025"/>
          </a:xfrm>
        </p:spPr>
        <p:txBody>
          <a:bodyPr lIns="0" tIns="0" rIns="0" bIns="0">
            <a:noAutofit/>
          </a:bodyPr>
          <a:lstStyle>
            <a:def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600" b="1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userver и testsuite</a:t>
            </a:r>
            <a:endParaRPr lang="ru-RU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80810CD0-8A29-4E39-A445-23AFD5867C1B}"/>
              </a:ext>
            </a:extLst>
          </p:cNvPr>
          <p:cNvSpPr>
            <a:spLocks noGrp="1"/>
          </p:cNvSpPr>
          <p:nvPr/>
        </p:nvSpPr>
        <p:spPr>
          <a:xfrm>
            <a:off x="8248650" y="4543425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975" b="0" dirty="1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3</a:t>
            </a:r>
            <a:endParaRPr lang="ru-RU"/>
          </a:p>
        </p:txBody>
      </p:sp>
      <p:sp>
        <p:nvSpPr>
          <p:cNvPr id="6" name="dependency-0">
            <a:extLst>
              <a:ext uri="{FF2B5EF4-FFF2-40B4-BE49-F238E27FC236}">
                <a16:creationId xmlns:a16="http://schemas.microsoft.com/office/drawing/2014/main" id="{E8C6588A-840B-4CAE-9ACF-59796BF527DF}"/>
              </a:ext>
            </a:extLst>
          </p:cNvPr>
          <p:cNvSpPr>
            <a:spLocks noGrp="1"/>
          </p:cNvSpPr>
          <p:nvPr/>
        </p:nvSpPr>
        <p:spPr>
          <a:xfrm>
            <a:off x="571500" y="1323975"/>
            <a:ext cx="771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userver: разработка сервисов</a:t>
            </a:r>
            <a:endParaRPr lang="ru-RU"/>
          </a:p>
        </p:txBody>
      </p:sp>
      <p:sp>
        <p:nvSpPr>
          <p:cNvPr id="7" name="dependency-body-0">
            <a:extLst>
              <a:ext uri="{FF2B5EF4-FFF2-40B4-BE49-F238E27FC236}">
                <a16:creationId xmlns:a16="http://schemas.microsoft.com/office/drawing/2014/main" id="{89695BC3-3AEE-4D83-9C8B-74E46F627C46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771525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Открытый асинхронный C++-фреймворк для микросервисов.</a:t>
            </a:r>
            <a:endParaRPr lang="ru-RU"/>
          </a:p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Поддерживает HTTP, gRPC, работу с БД и брокерами.</a:t>
            </a:r>
            <a:endParaRPr lang="ru-RU"/>
          </a:p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Многие сервисы на userver работают в продакшене [3].</a:t>
            </a:r>
            <a:endParaRPr lang="ru-RU"/>
          </a:p>
        </p:txBody>
      </p:sp>
      <p:sp>
        <p:nvSpPr>
          <p:cNvPr id="8" name="dependency-1">
            <a:extLst>
              <a:ext uri="{FF2B5EF4-FFF2-40B4-BE49-F238E27FC236}">
                <a16:creationId xmlns:a16="http://schemas.microsoft.com/office/drawing/2014/main" id="{A67C6F30-017A-4274-9BF3-29CFB8D1C894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771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testsuite: тестирование сервисов</a:t>
            </a:r>
            <a:endParaRPr lang="ru-RU"/>
          </a:p>
        </p:txBody>
      </p:sp>
      <p:sp>
        <p:nvSpPr>
          <p:cNvPr id="9" name="dependency-body-1">
            <a:extLst>
              <a:ext uri="{FF2B5EF4-FFF2-40B4-BE49-F238E27FC236}">
                <a16:creationId xmlns:a16="http://schemas.microsoft.com/office/drawing/2014/main" id="{8AB16812-05AA-4B2A-A57C-13C6C5E3E7F5}"/>
              </a:ext>
            </a:extLst>
          </p:cNvPr>
          <p:cNvSpPr>
            <a:spLocks noGrp="1"/>
          </p:cNvSpPr>
          <p:nvPr/>
        </p:nvSpPr>
        <p:spPr>
          <a:xfrm>
            <a:off x="571500" y="3086100"/>
            <a:ext cx="771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Python-фреймворк на основе pytest для функциональных тестов.</a:t>
            </a:r>
            <a:endParaRPr lang="ru-RU"/>
          </a:p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Запускает сервис, готовит данные и подменяет внешние API.</a:t>
            </a:r>
            <a:endParaRPr lang="ru-RU"/>
          </a:p>
        </p:txBody>
      </p:sp>
      <p:sp>
        <p:nvSpPr>
          <p:cNvPr id="10" name="narrative-transition">
            <a:extLst>
              <a:ext uri="{FF2B5EF4-FFF2-40B4-BE49-F238E27FC236}">
                <a16:creationId xmlns:a16="http://schemas.microsoft.com/office/drawing/2014/main" id="{8AB16812-05AA-4B2A-A57C-13C6C5E3E7F5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771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Задача: находить ошибки в userver-сервисах до выпуска,</a:t>
            </a:r>
            <a:endParaRPr lang="ru-RU"/>
          </a:p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используя testsuite для управления тестовым окружением.</a:t>
            </a:r>
            <a:endParaRPr lang="ru-RU"/>
          </a:p>
        </p:txBody>
      </p:sp>
      <p:sp>
        <p:nvSpPr>
          <p:cNvPr id="11" name="narrative-sources">
            <a:extLst>
              <a:ext uri="{FF2B5EF4-FFF2-40B4-BE49-F238E27FC236}">
                <a16:creationId xmlns:a16="http://schemas.microsoft.com/office/drawing/2014/main" id="{89695BC3-3AEE-4D83-9C8B-74E46F627C46}"/>
              </a:ext>
            </a:extLst>
          </p:cNvPr>
          <p:cNvSpPr>
            <a:spLocks noGrp="1"/>
          </p:cNvSpPr>
          <p:nvPr/>
        </p:nvSpPr>
        <p:spPr>
          <a:xfrm>
            <a:off x="571500" y="4543425"/>
            <a:ext cx="7429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000" b="0" dirty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Источники: </a:t>
            </a:r>
            <a:endParaRPr lang="ru-RU"/>
            <a:r>
              <a:rPr lang="ru-RU" sz="1000" u="sng">
                <a:solidFill>
                  <a:srgbClr val="5541B7"/>
                </a:solidFill>
                <a:hlinkClick r:id="rIdNarrative0"/>
              </a:rPr>
              <a:t>userver    </a:t>
            </a:r>
            <a:r>
              <a:rPr lang="ru-RU" sz="1000" u="sng">
                <a:solidFill>
                  <a:srgbClr val="5541B7"/>
                </a:solidFill>
                <a:hlinkClick r:id="rIdNarrative1"/>
              </a:rPr>
              <a:t>testsuite    </a:t>
            </a:r>
            <a:r>
              <a:rPr lang="ru-RU" sz="1000" u="sng">
                <a:solidFill>
                  <a:srgbClr val="5541B7"/>
                </a:solidFill>
                <a:hlinkClick r:id="rIdNarrative2"/>
              </a:rPr>
              <a:t>[3] userver в production</a:t>
            </a:r>
          </a:p>
        </p:txBody>
      </p:sp>
    </p:spTree>
    <p:extLst>
      <p:ext uri="{BB962C8B-B14F-4D97-AF65-F5344CB8AC3E}">
        <p14:creationId xmlns:p14="http://schemas.microsoft.com/office/powerpoint/2010/main" val="2064491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5220BD-5904-4024-A795-13A236CEE7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225"/>
            <a:ext cx="6743700" cy="581025"/>
          </a:xfrm>
        </p:spPr>
        <p:txBody>
          <a:bodyPr lIns="0" tIns="0" rIns="0" bIns="0">
            <a:noAutofit/>
          </a:bodyPr>
          <a:lstStyle>
            <a:def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Обзор подходов и аналогов</a:t>
            </a:r>
            <a:endParaRPr lang="ru-RU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DE4906EB-77B9-4C47-837B-F55E1CE672FA}"/>
              </a:ext>
            </a:extLst>
          </p:cNvPr>
          <p:cNvSpPr>
            <a:spLocks noGrp="1"/>
          </p:cNvSpPr>
          <p:nvPr/>
        </p:nvSpPr>
        <p:spPr>
          <a:xfrm>
            <a:off x="8248650" y="4543425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D43F4B-A5A6-4611-A07D-45292CD2BAFA}"/>
              </a:ext>
            </a:extLst>
          </p:cNvPr>
          <p:cNvGraphicFramePr/>
          <p:nvPr/>
        </p:nvGraphicFramePr>
        <p:xfrm>
          <a:off x="571500" y="1552575"/>
          <a:ext cx="7848600" cy="2505583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r>
                        <a:rPr lang="ru-RU" sz="1350" b="1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Инструмент</a:t>
                      </a:r>
                    </a:p>
                  </a:txBody>
                  <a:tcPr>
                    <a:lnL w="5715">
                      <a:solidFill>
                        <a:srgbClr val="D5D5D5"/>
                      </a:solidFill>
                      <a:prstDash val="soli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>
                      <a:solidFill>
                        <a:srgbClr val="D5D5D5"/>
                      </a:solidFill>
                      <a:prstDash val="soli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50" b="1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Основной подход</a:t>
                      </a:r>
                    </a:p>
                  </a:txBody>
                  <a:tcPr>
                    <a:lnL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>
                      <a:solidFill>
                        <a:srgbClr val="D5D5D5"/>
                      </a:solidFill>
                      <a:prstDash val="soli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50" b="1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Вопрос для нашего проекта</a:t>
                      </a:r>
                    </a:p>
                  </a:txBody>
                  <a:tcPr>
                    <a:lnL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>
                      <a:solidFill>
                        <a:srgbClr val="D5D5D5"/>
                      </a:solidFill>
                      <a:prstDash val="soli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lang="en-US" sz="1388" b="1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Schemathesis</a:t>
                      </a:r>
                    </a:p>
                  </a:txBody>
                  <a:tcPr>
                    <a:lnL w="5715">
                      <a:solidFill>
                        <a:srgbClr val="D5D5D5"/>
                      </a:solidFill>
                      <a:prstDash val="soli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OpenAPI, Python,</a:t>
                      </a:r>
                    </a:p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stateful-цепочки</a:t>
                      </a:r>
                    </a:p>
                  </a:txBody>
                  <a:tcPr>
                    <a:lnL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Async testsuite</a:t>
                      </a:r>
                    </a:p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Покрытие C++</a:t>
                      </a:r>
                    </a:p>
                  </a:txBody>
                  <a:tcPr>
                    <a:lnL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lang="en-US" sz="1388" b="1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RESTler</a:t>
                      </a:r>
                    </a:p>
                  </a:txBody>
                  <a:tcPr>
                    <a:lnL w="5715">
                      <a:solidFill>
                        <a:srgbClr val="D5D5D5"/>
                      </a:solidFill>
                      <a:prstDash val="soli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Зависимости между</a:t>
                      </a:r>
                    </a:p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запросами и цепочки</a:t>
                      </a:r>
                    </a:p>
                  </a:txBody>
                  <a:tcPr>
                    <a:lnL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Изоляция окружения</a:t>
                      </a:r>
                    </a:p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Воспроизведение</a:t>
                      </a:r>
                    </a:p>
                  </a:txBody>
                  <a:tcPr>
                    <a:lnL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lang="en-US" sz="1388" b="1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EvoMaster</a:t>
                      </a:r>
                    </a:p>
                  </a:txBody>
                  <a:tcPr>
                    <a:lnL w="5715">
                      <a:solidFill>
                        <a:srgbClr val="D5D5D5"/>
                      </a:solidFill>
                      <a:prstDash val="soli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Генерация API-тестов,</a:t>
                      </a:r>
                    </a:p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black-box режим</a:t>
                      </a:r>
                    </a:p>
                  </a:txBody>
                  <a:tcPr>
                    <a:lnL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Поиск ошибок</a:t>
                      </a:r>
                    </a:p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на C++-стендах</a:t>
                      </a:r>
                    </a:p>
                  </a:txBody>
                  <a:tcPr>
                    <a:lnL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lang="en-US" sz="1388" b="1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WuppieFuzz</a:t>
                      </a:r>
                    </a:p>
                  </a:txBody>
                  <a:tcPr>
                    <a:lnL w="5715">
                      <a:solidFill>
                        <a:srgbClr val="D5D5D5"/>
                      </a:solidFill>
                      <a:prstDash val="soli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Фаззинг REST</a:t>
                      </a:r>
                    </a:p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 обратной связью</a:t>
                      </a:r>
                    </a:p>
                  </a:txBody>
                  <a:tcPr>
                    <a:lnL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Покрытие C++</a:t>
                      </a:r>
                    </a:p>
                    <a:p>
                      <a:r>
                        <a:rPr lang="ru-RU" sz="1388" b="0">
                          <a:solidFill>
                            <a:srgbClr val="2C2D2E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Сброс состояния</a:t>
                      </a:r>
                    </a:p>
                  </a:txBody>
                  <a:tcPr>
                    <a:lnL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5D5D5"/>
                      </a:solidFill>
                      <a:prstDash val="solid"/>
                    </a:lnR>
                    <a:lnT w="571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5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omparison-result">
            <a:extLst>
              <a:ext uri="{FF2B5EF4-FFF2-40B4-BE49-F238E27FC236}">
                <a16:creationId xmlns:a16="http://schemas.microsoft.com/office/drawing/2014/main" id="{D2E75C01-CD3E-41D0-8FA9-F175CD207D9E}"/>
              </a:ext>
            </a:extLst>
          </p:cNvPr>
          <p:cNvSpPr>
            <a:spLocks noGrp="1"/>
          </p:cNvSpPr>
          <p:nvPr/>
        </p:nvSpPr>
        <p:spPr>
          <a:xfrm>
            <a:off x="571500" y="4143375"/>
            <a:ext cx="77533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38" b="1" dirty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Фокус работы: совместить поиск цепочек и данных</a:t>
            </a:r>
          </a:p>
          <a:p>
            <a:pPr>
              <a:defRPr lang="ru-RU" sz="1538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38" b="1" dirty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с изоляцией </a:t>
            </a:r>
            <a:r>
              <a:rPr lang="ru-RU" sz="1538" b="1" dirty="0" err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testsuite</a:t>
            </a:r>
            <a:r>
              <a:rPr lang="ru-RU" sz="1538" b="1" dirty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 и обратной связью из </a:t>
            </a:r>
            <a:r>
              <a:rPr lang="ru-RU" sz="1538" b="1" dirty="0" err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C</a:t>
            </a:r>
            <a:r>
              <a:rPr lang="ru-RU" sz="1538" b="1" dirty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++.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46CB16-2220-4F03-A926-E355EFB80C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225"/>
            <a:ext cx="6743700" cy="581025"/>
          </a:xfrm>
        </p:spPr>
        <p:txBody>
          <a:bodyPr lIns="0" tIns="0" rIns="0" bIns="0">
            <a:noAutofit/>
          </a:bodyPr>
          <a:lstStyle>
            <a:def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Цель и гипотеза</a:t>
            </a:r>
            <a:endParaRPr lang="ru-RU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EAB69913-E9DB-4ADE-A92E-5E91273BB724}"/>
              </a:ext>
            </a:extLst>
          </p:cNvPr>
          <p:cNvSpPr>
            <a:spLocks noGrp="1"/>
          </p:cNvSpPr>
          <p:nvPr/>
        </p:nvSpPr>
        <p:spPr>
          <a:xfrm>
            <a:off x="8248650" y="4543425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5</a:t>
            </a:r>
          </a:p>
        </p:txBody>
      </p:sp>
      <p:sp>
        <p:nvSpPr>
          <p:cNvPr id="6" name="goal-label">
            <a:extLst>
              <a:ext uri="{FF2B5EF4-FFF2-40B4-BE49-F238E27FC236}">
                <a16:creationId xmlns:a16="http://schemas.microsoft.com/office/drawing/2014/main" id="{8EDDA326-5DA1-4AF6-A83A-594022A9933A}"/>
              </a:ext>
            </a:extLst>
          </p:cNvPr>
          <p:cNvSpPr>
            <a:spLocks noGrp="1"/>
          </p:cNvSpPr>
          <p:nvPr/>
        </p:nvSpPr>
        <p:spPr>
          <a:xfrm>
            <a:off x="571500" y="1323975"/>
            <a:ext cx="771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Цель работы</a:t>
            </a:r>
          </a:p>
        </p:txBody>
      </p:sp>
      <p:sp>
        <p:nvSpPr>
          <p:cNvPr id="7" name="goal">
            <a:extLst>
              <a:ext uri="{FF2B5EF4-FFF2-40B4-BE49-F238E27FC236}">
                <a16:creationId xmlns:a16="http://schemas.microsoft.com/office/drawing/2014/main" id="{EB6100D9-64D4-4A0F-8241-17AAC27131EB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7810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Разработать и оценить инструмент grey-box фаззинга</a:t>
            </a:r>
          </a:p>
          <a:p>
            <a:pPr>
              <a:def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сервисов на userver с интеграцией в testsuite.</a:t>
            </a:r>
          </a:p>
        </p:txBody>
      </p:sp>
      <p:sp>
        <p:nvSpPr>
          <p:cNvPr id="8" name="hypothesis-label">
            <a:extLst>
              <a:ext uri="{FF2B5EF4-FFF2-40B4-BE49-F238E27FC236}">
                <a16:creationId xmlns:a16="http://schemas.microsoft.com/office/drawing/2014/main" id="{5A22819A-00C5-4F5C-AF50-8A4BC032FF0F}"/>
              </a:ext>
            </a:extLst>
          </p:cNvPr>
          <p:cNvSpPr>
            <a:spLocks noGrp="1"/>
          </p:cNvSpPr>
          <p:nvPr/>
        </p:nvSpPr>
        <p:spPr>
          <a:xfrm>
            <a:off x="571500" y="2647950"/>
            <a:ext cx="771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Проверяемая гипотеза</a:t>
            </a:r>
          </a:p>
        </p:txBody>
      </p:sp>
      <p:sp>
        <p:nvSpPr>
          <p:cNvPr id="9" name="hypothesis">
            <a:extLst>
              <a:ext uri="{FF2B5EF4-FFF2-40B4-BE49-F238E27FC236}">
                <a16:creationId xmlns:a16="http://schemas.microsoft.com/office/drawing/2014/main" id="{F4388EF1-94AF-464D-B732-EFA734E117F2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7810500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Обратная связь по покрытию C++ и пользовательские</a:t>
            </a:r>
          </a:p>
          <a:p>
            <a: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сценарии повышают эффективность поиска ошибок.</a:t>
            </a:r>
          </a:p>
        </p:txBody>
      </p:sp>
      <p:sp>
        <p:nvSpPr>
          <p:cNvPr id="10" name="evaluation">
            <a:extLst>
              <a:ext uri="{FF2B5EF4-FFF2-40B4-BE49-F238E27FC236}">
                <a16:creationId xmlns:a16="http://schemas.microsoft.com/office/drawing/2014/main" id="{3035EA1D-DCE3-4B88-8DB2-5C12079B9C9C}"/>
              </a:ext>
            </a:extLst>
          </p:cNvPr>
          <p:cNvSpPr>
            <a:spLocks noGrp="1"/>
          </p:cNvSpPr>
          <p:nvPr/>
        </p:nvSpPr>
        <p:spPr>
          <a:xfrm>
            <a:off x="571500" y="3962400"/>
            <a:ext cx="7810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Проверка: сравнить режимы с этими возможностями</a:t>
            </a:r>
          </a:p>
          <a:p>
            <a:pPr>
              <a:def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и без них при одинаковом бюджете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AB693A-5A7F-4E77-B6E2-49F43C29FA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225"/>
            <a:ext cx="6743700" cy="581025"/>
          </a:xfrm>
        </p:spPr>
        <p:txBody>
          <a:bodyPr lIns="0" tIns="0" rIns="0" bIns="0">
            <a:noAutofit/>
          </a:bodyPr>
          <a:lstStyle>
            <a:def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Предлагаемый инструмент</a:t>
            </a:r>
            <a:endParaRPr lang="ru-RU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C993F67C-0282-406F-9EA7-3ED629065AA7}"/>
              </a:ext>
            </a:extLst>
          </p:cNvPr>
          <p:cNvSpPr>
            <a:spLocks noGrp="1"/>
          </p:cNvSpPr>
          <p:nvPr/>
        </p:nvSpPr>
        <p:spPr>
          <a:xfrm>
            <a:off x="8248650" y="4543425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6</a:t>
            </a:r>
          </a:p>
        </p:txBody>
      </p:sp>
      <p:sp>
        <p:nvSpPr>
          <p:cNvPr id="6" name="mode-0">
            <a:extLst>
              <a:ext uri="{FF2B5EF4-FFF2-40B4-BE49-F238E27FC236}">
                <a16:creationId xmlns:a16="http://schemas.microsoft.com/office/drawing/2014/main" id="{12A06D97-B12D-4998-8E46-AB649B746510}"/>
              </a:ext>
            </a:extLst>
          </p:cNvPr>
          <p:cNvSpPr>
            <a:spLocks noGrp="1"/>
          </p:cNvSpPr>
          <p:nvPr/>
        </p:nvSpPr>
        <p:spPr>
          <a:xfrm>
            <a:off x="571500" y="1343025"/>
            <a:ext cx="77343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01  Отдельные запросы</a:t>
            </a:r>
          </a:p>
        </p:txBody>
      </p:sp>
      <p:sp>
        <p:nvSpPr>
          <p:cNvPr id="7" name="mode-body-0">
            <a:extLst>
              <a:ext uri="{FF2B5EF4-FFF2-40B4-BE49-F238E27FC236}">
                <a16:creationId xmlns:a16="http://schemas.microsoft.com/office/drawing/2014/main" id="{9DBC0B40-BEDC-4EEB-A95C-C2730A25BA9C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77343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Генерация по API-схеме и проверка контракта ответа.</a:t>
            </a:r>
          </a:p>
        </p:txBody>
      </p:sp>
      <p:sp>
        <p:nvSpPr>
          <p:cNvPr id="8" name="mode-1">
            <a:extLst>
              <a:ext uri="{FF2B5EF4-FFF2-40B4-BE49-F238E27FC236}">
                <a16:creationId xmlns:a16="http://schemas.microsoft.com/office/drawing/2014/main" id="{280A55B5-B6C1-4D85-AFA0-153BF0983D3C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77343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02  Цепочки без пользовательских сценариев</a:t>
            </a:r>
          </a:p>
        </p:txBody>
      </p:sp>
      <p:sp>
        <p:nvSpPr>
          <p:cNvPr id="9" name="mode-body-1">
            <a:extLst>
              <a:ext uri="{FF2B5EF4-FFF2-40B4-BE49-F238E27FC236}">
                <a16:creationId xmlns:a16="http://schemas.microsoft.com/office/drawing/2014/main" id="{2AE14458-A37A-4A87-B67C-27BE3A8EA9AA}"/>
              </a:ext>
            </a:extLst>
          </p:cNvPr>
          <p:cNvSpPr>
            <a:spLocks noGrp="1"/>
          </p:cNvSpPr>
          <p:nvPr/>
        </p:nvSpPr>
        <p:spPr>
          <a:xfrm>
            <a:off x="571500" y="2676525"/>
            <a:ext cx="77343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Автоматический выбор порядка, повторов и связей данных.</a:t>
            </a:r>
          </a:p>
        </p:txBody>
      </p:sp>
      <p:sp>
        <p:nvSpPr>
          <p:cNvPr id="10" name="mode-2">
            <a:extLst>
              <a:ext uri="{FF2B5EF4-FFF2-40B4-BE49-F238E27FC236}">
                <a16:creationId xmlns:a16="http://schemas.microsoft.com/office/drawing/2014/main" id="{D75719C9-EBFA-43AF-A49C-165D76A17E99}"/>
              </a:ext>
            </a:extLst>
          </p:cNvPr>
          <p:cNvSpPr>
            <a:spLocks noGrp="1"/>
          </p:cNvSpPr>
          <p:nvPr/>
        </p:nvSpPr>
        <p:spPr>
          <a:xfrm>
            <a:off x="571500" y="3228975"/>
            <a:ext cx="77343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03  Цепочки по сценариям на Python</a:t>
            </a:r>
          </a:p>
        </p:txBody>
      </p:sp>
      <p:sp>
        <p:nvSpPr>
          <p:cNvPr id="11" name="mode-body-2">
            <a:extLst>
              <a:ext uri="{FF2B5EF4-FFF2-40B4-BE49-F238E27FC236}">
                <a16:creationId xmlns:a16="http://schemas.microsoft.com/office/drawing/2014/main" id="{9AD1C62F-42AC-48CA-8FD7-26BE3CE0E893}"/>
              </a:ext>
            </a:extLst>
          </p:cNvPr>
          <p:cNvSpPr>
            <a:spLocks noGrp="1"/>
          </p:cNvSpPr>
          <p:nvPr/>
        </p:nvSpPr>
        <p:spPr>
          <a:xfrm>
            <a:off x="571500" y="3619500"/>
            <a:ext cx="77343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Use case задаёт стартовую последовательность для мутаций.</a:t>
            </a:r>
          </a:p>
        </p:txBody>
      </p:sp>
      <p:sp>
        <p:nvSpPr>
          <p:cNvPr id="12" name="common">
            <a:extLst>
              <a:ext uri="{FF2B5EF4-FFF2-40B4-BE49-F238E27FC236}">
                <a16:creationId xmlns:a16="http://schemas.microsoft.com/office/drawing/2014/main" id="{186BE8BB-B61D-483D-8348-0FC4BE3792CC}"/>
              </a:ext>
            </a:extLst>
          </p:cNvPr>
          <p:cNvSpPr>
            <a:spLocks noGrp="1"/>
          </p:cNvSpPr>
          <p:nvPr/>
        </p:nvSpPr>
        <p:spPr>
          <a:xfrm>
            <a:off x="571500" y="4171950"/>
            <a:ext cx="77343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Первый прототип: REST / OpenAPI.</a:t>
            </a:r>
          </a:p>
          <a:p>
            <a: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Потенциальное расширение: gRPC / Protocol Buffers.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BB1E20-72B8-4151-8BF5-064F11FC49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225"/>
            <a:ext cx="6743700" cy="581025"/>
          </a:xfrm>
        </p:spPr>
        <p:txBody>
          <a:bodyPr lIns="0" tIns="0" rIns="0" bIns="0">
            <a:noAutofit/>
          </a:bodyPr>
          <a:lstStyle>
            <a:def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Пример исследования сценария</a:t>
            </a:r>
            <a:endParaRPr lang="ru-RU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1BDDECDA-4D62-41B6-BA28-6FC7C9A82605}"/>
              </a:ext>
            </a:extLst>
          </p:cNvPr>
          <p:cNvSpPr>
            <a:spLocks noGrp="1"/>
          </p:cNvSpPr>
          <p:nvPr/>
        </p:nvSpPr>
        <p:spPr>
          <a:xfrm>
            <a:off x="8248650" y="4543425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7</a:t>
            </a:r>
          </a:p>
        </p:txBody>
      </p:sp>
      <p:sp>
        <p:nvSpPr>
          <p:cNvPr id="6" name="left-label">
            <a:extLst>
              <a:ext uri="{FF2B5EF4-FFF2-40B4-BE49-F238E27FC236}">
                <a16:creationId xmlns:a16="http://schemas.microsoft.com/office/drawing/2014/main" id="{C1B30343-000E-49E0-917E-520B4C2195FA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Сценарий разработчика</a:t>
            </a:r>
          </a:p>
        </p:txBody>
      </p:sp>
      <p:sp>
        <p:nvSpPr>
          <p:cNvPr id="7" name="right-label">
            <a:extLst>
              <a:ext uri="{FF2B5EF4-FFF2-40B4-BE49-F238E27FC236}">
                <a16:creationId xmlns:a16="http://schemas.microsoft.com/office/drawing/2014/main" id="{F5D66CFC-5B57-4FC2-A2F6-4AA7C63C61DF}"/>
              </a:ext>
            </a:extLst>
          </p:cNvPr>
          <p:cNvSpPr>
            <a:spLocks noGrp="1"/>
          </p:cNvSpPr>
          <p:nvPr/>
        </p:nvSpPr>
        <p:spPr>
          <a:xfrm>
            <a:off x="4524375" y="1362075"/>
            <a:ext cx="38576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725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Один из вариантов фаззера</a:t>
            </a:r>
          </a:p>
        </p:txBody>
      </p:sp>
      <p:sp>
        <p:nvSpPr>
          <p:cNvPr id="8" name="left-code">
            <a:extLst>
              <a:ext uri="{FF2B5EF4-FFF2-40B4-BE49-F238E27FC236}">
                <a16:creationId xmlns:a16="http://schemas.microsoft.com/office/drawing/2014/main" id="{F8C34E30-1564-4644-BBC3-1A55D1D8A610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3667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en-US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ticket = prepare(value)</a:t>
            </a:r>
          </a:p>
          <a:p>
            <a: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en-US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commit(ticket)</a:t>
            </a:r>
          </a:p>
        </p:txBody>
      </p:sp>
      <p:sp>
        <p:nvSpPr>
          <p:cNvPr id="9" name="right-code">
            <a:extLst>
              <a:ext uri="{FF2B5EF4-FFF2-40B4-BE49-F238E27FC236}">
                <a16:creationId xmlns:a16="http://schemas.microsoft.com/office/drawing/2014/main" id="{3630F1C2-54A3-48E9-BEDE-3584FA0E8409}"/>
              </a:ext>
            </a:extLst>
          </p:cNvPr>
          <p:cNvSpPr>
            <a:spLocks noGrp="1"/>
          </p:cNvSpPr>
          <p:nvPr/>
        </p:nvSpPr>
        <p:spPr>
          <a:xfrm>
            <a:off x="4524375" y="1952625"/>
            <a:ext cx="38576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en-US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ticket = prepare(value)</a:t>
            </a:r>
          </a:p>
          <a:p>
            <a: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en-US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commit(ticket)</a:t>
            </a:r>
          </a:p>
          <a:p>
            <a:pPr>
              <a:defRPr lang="ru-RU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en-US" sz="172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commit(ticket)</a:t>
            </a:r>
          </a:p>
        </p:txBody>
      </p:sp>
      <p:sp>
        <p:nvSpPr>
          <p:cNvPr id="10" name="mutation-takeaway">
            <a:extLst>
              <a:ext uri="{FF2B5EF4-FFF2-40B4-BE49-F238E27FC236}">
                <a16:creationId xmlns:a16="http://schemas.microsoft.com/office/drawing/2014/main" id="{4821416A-8076-4D25-8EDA-DF0CC98981B7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7715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Число повторений и входные значения</a:t>
            </a:r>
          </a:p>
          <a:p>
            <a:pPr>
              <a:def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025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фаззер подбирает самостоятельно.</a:t>
            </a:r>
          </a:p>
        </p:txBody>
      </p:sp>
      <p:sp>
        <p:nvSpPr>
          <p:cNvPr id="11" name="binding">
            <a:extLst>
              <a:ext uri="{FF2B5EF4-FFF2-40B4-BE49-F238E27FC236}">
                <a16:creationId xmlns:a16="http://schemas.microsoft.com/office/drawing/2014/main" id="{7CA50273-0D85-49B4-BBB4-2B1D4C2E08C5}"/>
              </a:ext>
            </a:extLst>
          </p:cNvPr>
          <p:cNvSpPr>
            <a:spLocks noGrp="1"/>
          </p:cNvSpPr>
          <p:nvPr/>
        </p:nvSpPr>
        <p:spPr>
          <a:xfrm>
            <a:off x="571500" y="4095750"/>
            <a:ext cx="7715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Контекст сохраняет связи данных между вызовами.</a:t>
            </a:r>
          </a:p>
          <a:p>
            <a: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Поиск включает неожиданный порядок и устаревшие 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F6B52D-FDDF-4143-9B84-B105EADB24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225"/>
            <a:ext cx="6743700" cy="581025"/>
          </a:xfrm>
        </p:spPr>
        <p:txBody>
          <a:bodyPr lIns="0" tIns="0" rIns="0" bIns="0">
            <a:noAutofit/>
          </a:bodyPr>
          <a:lstStyle>
            <a:def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Окружение и изоляция</a:t>
            </a:r>
            <a:endParaRPr lang="ru-RU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4C325EB4-49C8-42E3-956E-1222B6FD55E3}"/>
              </a:ext>
            </a:extLst>
          </p:cNvPr>
          <p:cNvSpPr>
            <a:spLocks noGrp="1"/>
          </p:cNvSpPr>
          <p:nvPr/>
        </p:nvSpPr>
        <p:spPr>
          <a:xfrm>
            <a:off x="8248650" y="4543425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8</a:t>
            </a:r>
          </a:p>
        </p:txBody>
      </p:sp>
      <p:sp>
        <p:nvSpPr>
          <p:cNvPr id="6" name="dependency-0">
            <a:extLst>
              <a:ext uri="{FF2B5EF4-FFF2-40B4-BE49-F238E27FC236}">
                <a16:creationId xmlns:a16="http://schemas.microsoft.com/office/drawing/2014/main" id="{F449F438-C221-4B9B-9085-072EC68031EF}"/>
              </a:ext>
            </a:extLst>
          </p:cNvPr>
          <p:cNvSpPr>
            <a:spLocks noGrp="1"/>
          </p:cNvSpPr>
          <p:nvPr/>
        </p:nvSpPr>
        <p:spPr>
          <a:xfrm>
            <a:off x="571500" y="1323975"/>
            <a:ext cx="771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Окружение как часть входа фаззера</a:t>
            </a:r>
            <a:endParaRPr lang="ru-RU" sz="1800"/>
          </a:p>
        </p:txBody>
      </p:sp>
      <p:sp>
        <p:nvSpPr>
          <p:cNvPr id="7" name="dependency-body-0">
            <a:extLst>
              <a:ext uri="{FF2B5EF4-FFF2-40B4-BE49-F238E27FC236}">
                <a16:creationId xmlns:a16="http://schemas.microsoft.com/office/drawing/2014/main" id="{161BEC2E-82CC-4AE9-A3D7-78CF01A24CC6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771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Фаззер варьирует ответы моков, файлы, данные БД</a:t>
            </a:r>
            <a:endParaRPr lang="ru-RU" sz="1650"/>
          </a:p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и сообщения брокера по заданным схемам и генераторам.</a:t>
            </a:r>
            <a:endParaRPr lang="ru-RU" sz="1650"/>
          </a:p>
        </p:txBody>
      </p:sp>
      <p:sp>
        <p:nvSpPr>
          <p:cNvPr id="8" name="dependency-1">
            <a:extLst>
              <a:ext uri="{FF2B5EF4-FFF2-40B4-BE49-F238E27FC236}">
                <a16:creationId xmlns:a16="http://schemas.microsoft.com/office/drawing/2014/main" id="{D6FA3045-C138-466E-BA06-576530447837}"/>
              </a:ext>
            </a:extLst>
          </p:cNvPr>
          <p:cNvSpPr>
            <a:spLocks noGrp="1"/>
          </p:cNvSpPr>
          <p:nvPr/>
        </p:nvSpPr>
        <p:spPr>
          <a:xfrm>
            <a:off x="571500" y="2438400"/>
            <a:ext cx="771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Управление через testsuite</a:t>
            </a:r>
            <a:endParaRPr lang="ru-RU" sz="1800"/>
          </a:p>
        </p:txBody>
      </p:sp>
      <p:sp>
        <p:nvSpPr>
          <p:cNvPr id="9" name="dependency-body-1">
            <a:extLst>
              <a:ext uri="{FF2B5EF4-FFF2-40B4-BE49-F238E27FC236}">
                <a16:creationId xmlns:a16="http://schemas.microsoft.com/office/drawing/2014/main" id="{20FDE8D9-342D-4E88-BB07-1D5973F45361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771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Фаззер выбирает действия и данные, testsuite их применяет.</a:t>
            </a:r>
            <a:endParaRPr lang="ru-RU" sz="1650"/>
          </a:p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Изменения окружения можно чередовать с вызовами сервиса.</a:t>
            </a:r>
            <a:endParaRPr lang="ru-RU" sz="1650"/>
          </a:p>
        </p:txBody>
      </p:sp>
      <p:sp>
        <p:nvSpPr>
          <p:cNvPr id="10" name="dependency-2">
            <a:extLst>
              <a:ext uri="{FF2B5EF4-FFF2-40B4-BE49-F238E27FC236}">
                <a16:creationId xmlns:a16="http://schemas.microsoft.com/office/drawing/2014/main" id="{898062BA-5E94-4138-B7DA-93C0BDDBE417}"/>
              </a:ext>
            </a:extLst>
          </p:cNvPr>
          <p:cNvSpPr>
            <a:spLocks noGrp="1"/>
          </p:cNvSpPr>
          <p:nvPr/>
        </p:nvSpPr>
        <p:spPr>
          <a:xfrm>
            <a:off x="571500" y="3571875"/>
            <a:ext cx="771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Изоляция и воспроизведение</a:t>
            </a:r>
            <a:endParaRPr lang="ru-RU" sz="1800"/>
          </a:p>
        </p:txBody>
      </p:sp>
      <p:sp>
        <p:nvSpPr>
          <p:cNvPr id="11" name="dependency-body-2">
            <a:extLst>
              <a:ext uri="{FF2B5EF4-FFF2-40B4-BE49-F238E27FC236}">
                <a16:creationId xmlns:a16="http://schemas.microsoft.com/office/drawing/2014/main" id="{2675CD2C-D857-4595-83D0-032817A4D773}"/>
              </a:ext>
            </a:extLst>
          </p:cNvPr>
          <p:cNvSpPr>
            <a:spLocks noGrp="1"/>
          </p:cNvSpPr>
          <p:nvPr/>
        </p:nvSpPr>
        <p:spPr>
          <a:xfrm>
            <a:off x="571500" y="3933825"/>
            <a:ext cx="771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Testsuite восстанавливает сервис и зависимости между примерами.</a:t>
            </a:r>
            <a:endParaRPr lang="ru-RU" sz="1650"/>
          </a:p>
          <a:p>
            <a:pPr>
              <a:defRPr lang="ru-RU" sz="150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Для повтора сохраняются запросы и изменения окружения.</a:t>
            </a:r>
            <a:endParaRPr lang="ru-RU" sz="1650"/>
          </a:p>
        </p:txBody>
      </p:sp>
      <p:sp>
        <p:nvSpPr>
          <p:cNvPr id="13" name="scope">
            <a:extLst>
              <a:ext uri="{FF2B5EF4-FFF2-40B4-BE49-F238E27FC236}">
                <a16:creationId xmlns:a16="http://schemas.microsoft.com/office/drawing/2014/main" id="{8870EE06-B288-4B1F-B41B-268B1598A321}"/>
              </a:ext>
            </a:extLst>
          </p:cNvPr>
          <p:cNvSpPr>
            <a:spLocks noGrp="1"/>
          </p:cNvSpPr>
          <p:nvPr/>
        </p:nvSpPr>
        <p:spPr>
          <a:xfrm>
            <a:off x="571500" y="4543425"/>
            <a:ext cx="7524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313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313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313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313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313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313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313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313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313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313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313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200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Все три режима. Отказы зависимостей остаются за рамками текущего этапа.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34AA08-FB49-4C87-9D9F-DB484B0D6C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225"/>
            <a:ext cx="6743700" cy="581025"/>
          </a:xfrm>
        </p:spPr>
        <p:txBody>
          <a:bodyPr lIns="0" tIns="0" rIns="0" bIns="0">
            <a:noAutofit/>
          </a:bodyPr>
          <a:lstStyle>
            <a:def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Задачи работы</a:t>
            </a:r>
            <a:endParaRPr lang="ru-RU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7157A4DC-878B-45BE-8B0D-2563A7C79EC0}"/>
              </a:ext>
            </a:extLst>
          </p:cNvPr>
          <p:cNvSpPr>
            <a:spLocks noGrp="1"/>
          </p:cNvSpPr>
          <p:nvPr/>
        </p:nvSpPr>
        <p:spPr>
          <a:xfrm>
            <a:off x="8248650" y="4543425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9</a:t>
            </a:r>
          </a:p>
        </p:txBody>
      </p:sp>
      <p:sp>
        <p:nvSpPr>
          <p:cNvPr id="6" name="task-0">
            <a:extLst>
              <a:ext uri="{FF2B5EF4-FFF2-40B4-BE49-F238E27FC236}">
                <a16:creationId xmlns:a16="http://schemas.microsoft.com/office/drawing/2014/main" id="{16AA3851-8555-4191-AEF7-843545356B45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7762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1.  Сравнить готовые фаззеры на контрольных стендах.</a:t>
            </a:r>
          </a:p>
        </p:txBody>
      </p:sp>
      <p:sp>
        <p:nvSpPr>
          <p:cNvPr id="7" name="task-1">
            <a:extLst>
              <a:ext uri="{FF2B5EF4-FFF2-40B4-BE49-F238E27FC236}">
                <a16:creationId xmlns:a16="http://schemas.microsoft.com/office/drawing/2014/main" id="{1C3C5970-B5F2-456D-9DDA-E46F4D5405AF}"/>
              </a:ext>
            </a:extLst>
          </p:cNvPr>
          <p:cNvSpPr>
            <a:spLocks noGrp="1"/>
          </p:cNvSpPr>
          <p:nvPr/>
        </p:nvSpPr>
        <p:spPr>
          <a:xfrm>
            <a:off x="571500" y="1828800"/>
            <a:ext cx="7762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2.  Реализовать генерацию запросов и цепочек со связями данных.</a:t>
            </a:r>
          </a:p>
        </p:txBody>
      </p:sp>
      <p:sp>
        <p:nvSpPr>
          <p:cNvPr id="8" name="task-2">
            <a:extLst>
              <a:ext uri="{FF2B5EF4-FFF2-40B4-BE49-F238E27FC236}">
                <a16:creationId xmlns:a16="http://schemas.microsoft.com/office/drawing/2014/main" id="{26E76427-1BA5-4ECA-9296-64F8729ACA70}"/>
              </a:ext>
            </a:extLst>
          </p:cNvPr>
          <p:cNvSpPr>
            <a:spLocks noGrp="1"/>
          </p:cNvSpPr>
          <p:nvPr/>
        </p:nvSpPr>
        <p:spPr>
          <a:xfrm>
            <a:off x="571500" y="2324100"/>
            <a:ext cx="7762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3.  Добавить Python API для сценариев и пользовательских проверок.</a:t>
            </a:r>
          </a:p>
        </p:txBody>
      </p:sp>
      <p:sp>
        <p:nvSpPr>
          <p:cNvPr id="9" name="task-3">
            <a:extLst>
              <a:ext uri="{FF2B5EF4-FFF2-40B4-BE49-F238E27FC236}">
                <a16:creationId xmlns:a16="http://schemas.microsoft.com/office/drawing/2014/main" id="{593D5E2A-636B-44F3-BC99-66A310169C4C}"/>
              </a:ext>
            </a:extLst>
          </p:cNvPr>
          <p:cNvSpPr>
            <a:spLocks noGrp="1"/>
          </p:cNvSpPr>
          <p:nvPr/>
        </p:nvSpPr>
        <p:spPr>
          <a:xfrm>
            <a:off x="571500" y="2819400"/>
            <a:ext cx="7762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4.  Интегрировать подготовку и сброс окружения с testsuite.</a:t>
            </a:r>
          </a:p>
        </p:txBody>
      </p:sp>
      <p:sp>
        <p:nvSpPr>
          <p:cNvPr id="10" name="task-4">
            <a:extLst>
              <a:ext uri="{FF2B5EF4-FFF2-40B4-BE49-F238E27FC236}">
                <a16:creationId xmlns:a16="http://schemas.microsoft.com/office/drawing/2014/main" id="{3208B201-0D65-4E7E-B1C3-A81EA9D55EC1}"/>
              </a:ext>
            </a:extLst>
          </p:cNvPr>
          <p:cNvSpPr>
            <a:spLocks noGrp="1"/>
          </p:cNvSpPr>
          <p:nvPr/>
        </p:nvSpPr>
        <p:spPr>
          <a:xfrm>
            <a:off x="571500" y="3314700"/>
            <a:ext cx="7762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5.  Подключить обратную связь по покрытию C++.</a:t>
            </a:r>
          </a:p>
        </p:txBody>
      </p:sp>
      <p:sp>
        <p:nvSpPr>
          <p:cNvPr id="11" name="task-5">
            <a:extLst>
              <a:ext uri="{FF2B5EF4-FFF2-40B4-BE49-F238E27FC236}">
                <a16:creationId xmlns:a16="http://schemas.microsoft.com/office/drawing/2014/main" id="{BF7D95CC-D6EE-403D-8A74-B0CE8E1B80A8}"/>
              </a:ext>
            </a:extLst>
          </p:cNvPr>
          <p:cNvSpPr>
            <a:spLocks noGrp="1"/>
          </p:cNvSpPr>
          <p:nvPr/>
        </p:nvSpPr>
        <p:spPr>
          <a:xfrm>
            <a:off x="571500" y="381000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6.  Реализовать воспроизведение и сокращение находок,</a:t>
            </a:r>
          </a:p>
          <a:p>
            <a:pPr>
              <a:def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75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затем провести сравнительные эксперименты.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A09A9B-0E75-45BE-9B12-1CDD6BCB7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225"/>
            <a:ext cx="6743700" cy="581025"/>
          </a:xfrm>
        </p:spPr>
        <p:txBody>
          <a:bodyPr lIns="0" tIns="0" rIns="0" bIns="0">
            <a:noAutofit/>
          </a:bodyPr>
          <a:lstStyle>
            <a:def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Текущее состояние проекта</a:t>
            </a:r>
            <a:endParaRPr lang="ru-RU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7C08D355-8A20-4F4D-A8B2-5836318B5D57}"/>
              </a:ext>
            </a:extLst>
          </p:cNvPr>
          <p:cNvSpPr>
            <a:spLocks noGrp="1"/>
          </p:cNvSpPr>
          <p:nvPr/>
        </p:nvSpPr>
        <p:spPr>
          <a:xfrm>
            <a:off x="8248650" y="4543425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10</a:t>
            </a:r>
          </a:p>
        </p:txBody>
      </p:sp>
      <p:sp>
        <p:nvSpPr>
          <p:cNvPr id="6" name="ready-title">
            <a:extLst>
              <a:ext uri="{FF2B5EF4-FFF2-40B4-BE49-F238E27FC236}">
                <a16:creationId xmlns:a16="http://schemas.microsoft.com/office/drawing/2014/main" id="{D63FAEA1-E34A-40A2-82BA-036BAF733395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7715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Уже подготовлены</a:t>
            </a:r>
          </a:p>
        </p:txBody>
      </p:sp>
      <p:sp>
        <p:nvSpPr>
          <p:cNvPr id="7" name="ready-text">
            <a:extLst>
              <a:ext uri="{FF2B5EF4-FFF2-40B4-BE49-F238E27FC236}">
                <a16:creationId xmlns:a16="http://schemas.microsoft.com/office/drawing/2014/main" id="{A06AE4B3-615A-45C3-8740-BBC74F8AF3F8}"/>
              </a:ext>
            </a:extLst>
          </p:cNvPr>
          <p:cNvSpPr>
            <a:spLocks noGrp="1"/>
          </p:cNvSpPr>
          <p:nvPr/>
        </p:nvSpPr>
        <p:spPr>
          <a:xfrm>
            <a:off x="571500" y="1743075"/>
            <a:ext cx="77152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REST- и gRPC-стенды с пятью классами известных дефектов.</a:t>
            </a:r>
          </a:p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Контракты API, HTTP-моки и функциональные testsuite-тесты.</a:t>
            </a:r>
          </a:p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Контрольные проверки воспроизведения падений.</a:t>
            </a:r>
          </a:p>
        </p:txBody>
      </p:sp>
      <p:sp>
        <p:nvSpPr>
          <p:cNvPr id="8" name="concept-title">
            <a:extLst>
              <a:ext uri="{FF2B5EF4-FFF2-40B4-BE49-F238E27FC236}">
                <a16:creationId xmlns:a16="http://schemas.microsoft.com/office/drawing/2014/main" id="{D0FF592C-4876-4850-B0AA-FAD62524B4B4}"/>
              </a:ext>
            </a:extLst>
          </p:cNvPr>
          <p:cNvSpPr>
            <a:spLocks noGrp="1"/>
          </p:cNvSpPr>
          <p:nvPr/>
        </p:nvSpPr>
        <p:spPr>
          <a:xfrm>
            <a:off x="571500" y="2895600"/>
            <a:ext cx="7715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Сформулирована концепция</a:t>
            </a:r>
          </a:p>
        </p:txBody>
      </p:sp>
      <p:sp>
        <p:nvSpPr>
          <p:cNvPr id="9" name="concept-text">
            <a:extLst>
              <a:ext uri="{FF2B5EF4-FFF2-40B4-BE49-F238E27FC236}">
                <a16:creationId xmlns:a16="http://schemas.microsoft.com/office/drawing/2014/main" id="{32046FA9-54F8-4CA3-B385-496537C0FDE3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77152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Три режима, данные зависимостей, изоляция и критерии оценки.</a:t>
            </a:r>
          </a:p>
          <a:p>
            <a:pPr>
              <a:def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Подготовлен список инструментов для сравнения.</a:t>
            </a:r>
          </a:p>
        </p:txBody>
      </p:sp>
      <p:sp>
        <p:nvSpPr>
          <p:cNvPr id="10" name="next">
            <a:extLst>
              <a:ext uri="{FF2B5EF4-FFF2-40B4-BE49-F238E27FC236}">
                <a16:creationId xmlns:a16="http://schemas.microsoft.com/office/drawing/2014/main" id="{05B64EE6-C622-4A52-AFF6-40C4DF5F5F05}"/>
              </a:ext>
            </a:extLst>
          </p:cNvPr>
          <p:cNvSpPr>
            <a:spLocks noGrp="1"/>
          </p:cNvSpPr>
          <p:nvPr/>
        </p:nvSpPr>
        <p:spPr>
          <a:xfrm>
            <a:off x="571500" y="4105275"/>
            <a:ext cx="7715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Следующий шаг: первые сравнительные прогоны</a:t>
            </a:r>
          </a:p>
          <a:p>
            <a: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и выбор основы прототипа.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00549F-9CFD-41E9-B6A8-B29B08028F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225"/>
            <a:ext cx="6743700" cy="581025"/>
          </a:xfrm>
        </p:spPr>
        <p:txBody>
          <a:bodyPr lIns="0" tIns="0" rIns="0" bIns="0">
            <a:noAutofit/>
          </a:bodyPr>
          <a:lstStyle>
            <a:def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260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Ожидаемый результат</a:t>
            </a:r>
            <a:endParaRPr lang="ru-RU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693F62A9-486A-41F6-9F89-21B4852A52AD}"/>
              </a:ext>
            </a:extLst>
          </p:cNvPr>
          <p:cNvSpPr>
            <a:spLocks noGrp="1"/>
          </p:cNvSpPr>
          <p:nvPr/>
        </p:nvSpPr>
        <p:spPr>
          <a:xfrm>
            <a:off x="8248650" y="4543425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975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11</a:t>
            </a:r>
          </a:p>
        </p:txBody>
      </p:sp>
      <p:sp>
        <p:nvSpPr>
          <p:cNvPr id="6" name="deliverable">
            <a:extLst>
              <a:ext uri="{FF2B5EF4-FFF2-40B4-BE49-F238E27FC236}">
                <a16:creationId xmlns:a16="http://schemas.microsoft.com/office/drawing/2014/main" id="{C3C435C6-8EED-4CA5-9534-B7D53BA4EA06}"/>
              </a:ext>
            </a:extLst>
          </p:cNvPr>
          <p:cNvSpPr>
            <a:spLocks noGrp="1"/>
          </p:cNvSpPr>
          <p:nvPr/>
        </p:nvSpPr>
        <p:spPr>
          <a:xfrm>
            <a:off x="571500" y="1304925"/>
            <a:ext cx="771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Рабочий прототип с Python API, изоляцией окружения</a:t>
            </a:r>
          </a:p>
          <a:p>
            <a:pPr>
              <a:def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875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и воспроизводимыми примерами найденных ошибок.</a:t>
            </a:r>
          </a:p>
        </p:txBody>
      </p:sp>
      <p:sp>
        <p:nvSpPr>
          <p:cNvPr id="7" name="defects-label">
            <a:extLst>
              <a:ext uri="{FF2B5EF4-FFF2-40B4-BE49-F238E27FC236}">
                <a16:creationId xmlns:a16="http://schemas.microsoft.com/office/drawing/2014/main" id="{87EEBD55-2CC1-420D-B917-FED42D97585B}"/>
              </a:ext>
            </a:extLst>
          </p:cNvPr>
          <p:cNvSpPr>
            <a:spLocks noGrp="1"/>
          </p:cNvSpPr>
          <p:nvPr/>
        </p:nvSpPr>
        <p:spPr>
          <a:xfrm>
            <a:off x="571500" y="22288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Минимальная цель на стендах</a:t>
            </a:r>
          </a:p>
        </p:txBody>
      </p:sp>
      <p:sp>
        <p:nvSpPr>
          <p:cNvPr id="8" name="defects">
            <a:extLst>
              <a:ext uri="{FF2B5EF4-FFF2-40B4-BE49-F238E27FC236}">
                <a16:creationId xmlns:a16="http://schemas.microsoft.com/office/drawing/2014/main" id="{1A8FFE1E-AB85-4328-9C4A-984A1AE3BC79}"/>
              </a:ext>
            </a:extLst>
          </p:cNvPr>
          <p:cNvSpPr>
            <a:spLocks noGrp="1"/>
          </p:cNvSpPr>
          <p:nvPr/>
        </p:nvSpPr>
        <p:spPr>
          <a:xfrm>
            <a:off x="571500" y="2647950"/>
            <a:ext cx="41910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Падение от одного запроса</a:t>
            </a:r>
          </a:p>
          <a:p>
            <a: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Недекларированный HTTP 500</a:t>
            </a:r>
          </a:p>
          <a:p>
            <a: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Падение после цепочки команд</a:t>
            </a:r>
          </a:p>
          <a:p>
            <a: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Повторный commit с общим ticket</a:t>
            </a:r>
          </a:p>
          <a:p>
            <a: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Сочетание запроса и ответа мока</a:t>
            </a:r>
          </a:p>
        </p:txBody>
      </p:sp>
      <p:sp>
        <p:nvSpPr>
          <p:cNvPr id="9" name="metrics-label">
            <a:extLst>
              <a:ext uri="{FF2B5EF4-FFF2-40B4-BE49-F238E27FC236}">
                <a16:creationId xmlns:a16="http://schemas.microsoft.com/office/drawing/2014/main" id="{8D5E380E-8605-4A3C-9033-049219F06785}"/>
              </a:ext>
            </a:extLst>
          </p:cNvPr>
          <p:cNvSpPr>
            <a:spLocks noGrp="1"/>
          </p:cNvSpPr>
          <p:nvPr/>
        </p:nvSpPr>
        <p:spPr>
          <a:xfrm>
            <a:off x="5048250" y="22288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650" b="1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Критерии сравнения</a:t>
            </a:r>
          </a:p>
        </p:txBody>
      </p:sp>
      <p:sp>
        <p:nvSpPr>
          <p:cNvPr id="10" name="metrics">
            <a:extLst>
              <a:ext uri="{FF2B5EF4-FFF2-40B4-BE49-F238E27FC236}">
                <a16:creationId xmlns:a16="http://schemas.microsoft.com/office/drawing/2014/main" id="{6D876C59-8E2B-4D7D-8176-D008AEB59C35}"/>
              </a:ext>
            </a:extLst>
          </p:cNvPr>
          <p:cNvSpPr>
            <a:spLocks noGrp="1"/>
          </p:cNvSpPr>
          <p:nvPr/>
        </p:nvSpPr>
        <p:spPr>
          <a:xfrm>
            <a:off x="5048250" y="2647950"/>
            <a:ext cx="3286125" cy="1266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Доля найденных дефектов</a:t>
            </a:r>
          </a:p>
          <a:p>
            <a: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Время до обнаружения</a:t>
            </a:r>
          </a:p>
          <a:p>
            <a: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Повторяемость находок</a:t>
            </a:r>
          </a:p>
          <a:p>
            <a:pPr>
              <a:def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38" b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Покрытие и накладные расходы</a:t>
            </a:r>
          </a:p>
        </p:txBody>
      </p:sp>
      <p:sp>
        <p:nvSpPr>
          <p:cNvPr id="11" name="budget">
            <a:extLst>
              <a:ext uri="{FF2B5EF4-FFF2-40B4-BE49-F238E27FC236}">
                <a16:creationId xmlns:a16="http://schemas.microsoft.com/office/drawing/2014/main" id="{4911F4F3-E14C-4617-AC9E-A42F6D93CBE0}"/>
              </a:ext>
            </a:extLst>
          </p:cNvPr>
          <p:cNvSpPr>
            <a:spLocks noGrp="1"/>
          </p:cNvSpPr>
          <p:nvPr/>
        </p:nvSpPr>
        <p:spPr>
          <a:xfrm>
            <a:off x="571500" y="4324350"/>
            <a:ext cx="7715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defPPr>
            <a:lvl1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1pPr>
            <a:lvl2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2pPr>
            <a:lvl3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3pPr>
            <a:lvl4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4pPr>
            <a:lvl5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5pPr>
            <a:lvl6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6pPr>
            <a:lvl7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7pPr>
            <a:lvl8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8pPr>
            <a:lvl9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>
              <a:def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defRPr>
            </a:pPr>
            <a:r>
              <a:rPr lang="ru-RU" sz="1500" b="0">
                <a:solidFill>
                  <a:srgbClr val="55575B"/>
                </a:solidFill>
                <a:latin typeface="Golos Text"/>
                <a:ea typeface="Golos Text"/>
                <a:cs typeface="Golos Text"/>
              </a:rPr>
              <a:t>Сравнение при одинаковых бюджетах и учтённых подсказках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9CBFE5-EBA8-4F58-A305-B3F57D3F24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F90D52-5A44-4E94-AC7B-06E514EB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>
            <a:spLocks noGrp="1"/>
          </p:cNvSpPr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lang="ru-RU">
                <a:solidFill>
                  <a:schemeClr val="bg1"/>
                </a:solidFill>
                <a:latin typeface="Golos Text"/>
                <a:ea typeface="Golos Text"/>
                <a:cs typeface="Golos Text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Другая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Другая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1921</Words>
  <Application>Microsoft Macintosh PowerPoint</Application>
  <DocSecurity>0</DocSecurity>
  <PresentationFormat>On-screen Show (16:9)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Разработка инструмента фаззинга сервисов на userver</vt:lpstr>
      <vt:lpstr>Актуальность темы</vt:lpstr>
      <vt:lpstr>userver и testsuite</vt:lpstr>
      <vt:lpstr>Обзор подходов и аналогов</vt:lpstr>
      <vt:lpstr>Цель и гипотеза</vt:lpstr>
      <vt:lpstr>Предлагаемый инструмент</vt:lpstr>
      <vt:lpstr>Пример исследования сценария</vt:lpstr>
      <vt:lpstr>Окружение и изоляция</vt:lpstr>
      <vt:lpstr>Задачи работы</vt:lpstr>
      <vt:lpstr>Текущее состояние проекта</vt:lpstr>
      <vt:lpstr>Ожидаемый результат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Ivan Skriabin</cp:lastModifiedBy>
  <cp:revision>4</cp:revision>
  <dcterms:created xsi:type="dcterms:W3CDTF">2026-10-29T23:19:15Z</dcterms:created>
  <dcterms:modified xsi:type="dcterms:W3CDTF">2026-10-30T00:25:15Z</dcterms:modified>
</cp:coreProperties>
</file>