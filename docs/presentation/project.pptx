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buNone/>
      <a:defRPr lang="ru-RU"/>
    </a:defPPr>
    <a:lvl1pPr marL="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647"/>
  </p:normalViewPr>
  <p:slideViewPr>
    <p:cSldViewPr snapToGrid="0" snapToObjects="1">
      <p:cViewPr>
        <p:scale>
          <a:sx n="130" d="100"/>
          <a:sy n="130" d="100"/>
        </p:scale>
        <p:origin x="2176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 dirty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ru-RU" dirty="1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Предлагаемое название темы: «Разработка инструмента фаззинга сервисов на userver с учётом состояния и изоляцией окружения». Начальная область — REST. Пользователь самостоятельно заполнит сведения об авторе, научном консультанте и руководителе. Использован оригинальный титульный слайд предоставленного шаблона.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Актуальность работы связана с надёжностью сервисов и трудоёмкостью поиска ошибок. Ручные тесты проверяют выбранные разработчиком случаи. Фаззинг позволяет автоматически исследовать дополнительные входы и сценарии. Практический вопрос проекта — как упростить его подключение к userver через привычное окружение testsuite, сохранив работу со состоянием, данными зависимостей и воспроизводимость находок. Снижение трудоёмкости — ожидаемая польза, которую предстоит оценить. Мы не утверждаем отсутствие готовых фаззеров: их применимость и стоимость интеграции нужно сравнить. Источники: PROJECT.md; https://github.com/yandex/yandex-taxi-testsuite; https://schemathesis.readthedocs.io/en/stable/explanations/stateful/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  <a:p>
            <a:r>
              <a:rPr lang="en-US" dirty="1"/>
              <a:t>https://github.com/yandex/yandex-taxi-testsuite</a:t>
            </a:r>
          </a:p>
          <a:p>
            <a:r>
              <a:rPr lang="en-US" dirty="1"/>
              <a:t>https://schemathesis.readthedocs.io/en/stable/explanations/stateful/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Обзор фиксирует подходы, а не результаты сравнения. Schemathesis поддерживает генерацию по OpenAPI и stateful-связи. RESTler исследует последовательности с producer–consumer зависимостями. EvoMaster рассматривается для C++-сервиса в black-box режиме, без переноса возможностей инструментирования JVM. WuppieFuzz — coverage-guided REST-фаззер на LibAFL; сбор покрытия C++ и интеграцию с окружением требуется проверить. Таблица не утверждает отсутствие аналогичных возможностей у конкурентов. Основа прототипа пока не выбрана.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en-US" dirty="1"/>
              <a:t>https://schemathesis.readthedocs.io/en/stable/explanations/stateful/</a:t>
            </a:r>
          </a:p>
          <a:p>
            <a:r>
              <a:rPr lang="en-US" dirty="1"/>
              <a:t>https://github.com/microsoft/restler-fuzzer</a:t>
            </a:r>
          </a:p>
          <a:p>
            <a:r>
              <a:rPr lang="en-US" dirty="1"/>
              <a:t>https://github.com/WebFuzzing/EvoMaster/blob/master/docs/blackbox.md</a:t>
            </a:r>
          </a:p>
          <a:p>
            <a:r>
              <a:rPr lang="en-US" dirty="1"/>
              <a:t>https://github.com/TNO-S3/WuppieFuzz</a:t>
            </a:r>
          </a:p>
          <a:p>
            <a:r>
              <a:rPr lang="en-US" dirty="1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Цель относится к работающему инструменту и экспериментальной оценке. Гипотеза не является установленным результатом. Эффект покрытия и эффект пользовательских сценариев нужно измерять отдельно. Основные показатели — доля найденных контрольных дефектов, время до обнаружения и воспроизводимость. Покрытие направляет поиск, а наличие дефекта определяется проверками. Научную новизну уточняем по обзору аналогов и экспериментам.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В первом режиме один пример — отдельный запрос с восстановлением исходного состояния. Во втором и третьем пример — целая последовательность. Модель хранит любые необходимые результаты и связи, включая версии и вложенные значения, а не только user_id. Сценарии опциональны. Три режима доступны как без покрытия для контроля, так и в целевом grey-box режиме.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Это псевдокод, конкретный Python API ещё не зафиксирован. Нормальный use case prepare и commit — допустимая подсказка. Требование повторить commit дважды и конкретное значение падения не подсказываются. Повтор — общая мутация последовательности. Вызовы после удаления тоже полезны для проверки корректного отказа. В текущей схеме стенда уже присутствует ручная связь повторного commit, поэтому самостоятельный поиск повтора нужно оценивать отдельно без неё.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  <a:p>
            <a:r>
              <a:rPr lang="en-US" dirty="1"/>
              <a:t>services/simple-target-service/openapi.yaml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Все режимы могут использовать управляемые данные зависимостей. Фиксированные данные допустимы; для генерации автор предоставляет схему или генератор. REST-схема не описывает бизнес-связи БД и форматы файлов. БД и брокер предполагаются настоящими тестовыми экземплярами. Перезапуск сервиса очищает память, но отдельно нужно восстановить БД, файлы, моки и брокер. Перед сбросом нужно завершить или остановить фоновые действия. Отказы сети и I/O, намеренные таймауты и недоступность инфраструктуры отложены.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  <a:p>
            <a:r>
              <a:rPr lang="en-US" dirty="1"/>
              <a:t>https://github.com/yandex/yandex-taxi-testsuite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Начинаем с общего цикла: генерация, подготовка окружения, запрос, проверки, восстановление и воспроизведение. После него добавляем автоматические последовательности и пользовательские сценарии поверх общего механизма. Сбор покрытия C++ нужно проверить техническим прототипом на раннем этапе. Формат Python API и основа движка пока открыты. Контрольные эксперименты определяют, что выгодно переиспользовать.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  <a:p>
            <a:r>
              <a:rPr lang="en-US" dirty="1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Текущее состояние взято из README проекта и согласованной концепции. Сервисы и контрольные проверки есть. Прогоны фаззеров и измерения их эффективности ещё не выполнены. Собственный фаззинг-инструмент ещё не реализован. gRPC-стенд уже существует, но основная область текущего прототипа — REST. Для файлов, БД и брокера потребуются дополнительные контрольные сценарии. Не выдаём наличие функциональных тестов за результат фаззинга.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en-US" dirty="1"/>
              <a:t>README.md</a:t>
            </a:r>
          </a:p>
          <a:p>
            <a:r>
              <a:rPr lang="ru-RU" dirty="1"/>
              <a:t>PROJECT.md, концепция от 29.10.2026</a:t>
            </a:r>
          </a:p>
          <a:p>
            <a:r>
              <a:rPr lang="en-US" dirty="1"/>
              <a:t>services/simple-target-service/README.md</a:t>
            </a:r>
          </a:p>
          <a:p>
            <a:r>
              <a:rPr lang="en-US" dirty="1"/>
              <a:t>services/simple-grpc-target-service/README.md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Минимальная цель — самостоятельно находить пять классов контрольных дефектов за установленный бюджет и повторять находки из исходного состояния. Значения и готовые последовательности падения не должны скрытно попадать в стартовый корпус. Для пятого класса важно совместно варьировать REST-запрос и допустимый ответ зависимости. Фиксированный retry проверяет лишь часть задачи. Эффективность оценивается в повторных прогонах с фиксацией версий, начального корпуса, подсказок и стоимости сброса. Новые ошибки на реальных сервисах желательны, но не являются единственным критерием успеха.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  <a:p>
            <a:r>
              <a:rPr lang="en-US" dirty="1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Заключительный слайд исходного шаблона. Контакты пользователь заполнит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4EB702-B640-40F1-A922-E1E12E13B9B1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dirty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4A7373-9A81-470D-9521-AD884A438321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dirty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dirty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dirty="1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2000" baseline="0" lang="ru-RU" dirty="1"/>
            </a:lvl1pPr>
            <a:lvl2pPr marL="457200" indent="0">
              <a:buFont typeface="Arial"/>
              <a:buNone/>
              <a:defRPr sz="2400" lang="ru-RU" dirty="1"/>
            </a:lvl2pPr>
            <a:lvl3pPr marL="914400" indent="0">
              <a:buFont typeface="Arial"/>
              <a:buNone/>
              <a:defRPr sz="2000" lang="ru-RU" dirty="1"/>
            </a:lvl3pPr>
            <a:lvl4pPr marL="1371600" indent="0">
              <a:buFont typeface="Arial"/>
              <a:buNone/>
              <a:defRPr sz="1800" lang="ru-RU" dirty="1"/>
            </a:lvl4pPr>
            <a:lvl5pPr marL="1828800" indent="0">
              <a:buFont typeface="Arial"/>
              <a:buNone/>
              <a:defRPr sz="180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r>
              <a:rPr sz="20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sz="2000" lang="ru-RU" dirty="1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8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8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8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8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3B84B-A5CC-4C59-9826-D1074F43D6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F3A81-D0ED-4D72-9679-2A2CCDBB869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/>
              <a:buNone/>
              <a:defRPr sz="1400" baseline="0" lang="ru-RU" dirty="1"/>
            </a:lvl1pPr>
            <a:lvl2pPr>
              <a:buNone/>
              <a:defRPr sz="2400" lang="ru-RU" dirty="1"/>
            </a:lvl2pPr>
            <a:lvl3pPr>
              <a:buNone/>
              <a:defRPr sz="2000" lang="ru-RU" dirty="1"/>
            </a:lvl3pPr>
            <a:lvl4pPr>
              <a:buNone/>
              <a:defRPr sz="1800" lang="ru-RU" dirty="1"/>
            </a:lvl4pPr>
            <a:lvl5pPr>
              <a:buNone/>
              <a:defRPr sz="180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r>
              <a:rPr sz="24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sz="2400" lang="ru-RU" dirty="1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20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20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20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20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r>
              <a:rPr sz="12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2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2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2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r>
              <a:rPr sz="14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800" b="0" baseline="0" lang="ru-RU" dirty="1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sz="2400" lang="ru-RU" dirty="1"/>
            </a:lvl2pPr>
            <a:lvl3pPr marL="914400" indent="0">
              <a:buFont typeface="Arial"/>
              <a:buNone/>
              <a:defRPr sz="2000" lang="ru-RU" dirty="1"/>
            </a:lvl3pPr>
            <a:lvl4pPr marL="1371600" indent="0">
              <a:buFont typeface="Arial"/>
              <a:buNone/>
              <a:defRPr sz="1800" lang="ru-RU" dirty="1"/>
            </a:lvl4pPr>
            <a:lvl5pPr marL="1828800" indent="0">
              <a:buFont typeface="Arial"/>
              <a:buNone/>
              <a:defRPr sz="180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20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 lang="ru-RU" dirty="1"/>
            </a:lvl1pPr>
            <a:lvl2pPr marL="457200" indent="0">
              <a:buFontTx/>
              <a:buNone/>
              <a:defRPr sz="1600" baseline="0" lang="ru-RU" dirty="1"/>
            </a:lvl2pPr>
            <a:lvl3pPr marL="914400" indent="0">
              <a:buFontTx/>
              <a:buNone/>
              <a:defRPr sz="1600" baseline="0" lang="ru-RU" dirty="1"/>
            </a:lvl3pPr>
            <a:lvl4pPr marL="1371600" indent="0">
              <a:buFontTx/>
              <a:buNone/>
              <a:defRPr sz="1600" baseline="0" lang="ru-RU" dirty="1"/>
            </a:lvl4pPr>
            <a:lvl5pPr>
              <a:buFontTx/>
              <a:buNone/>
              <a:defRPr sz="1600" baseline="0" lang="ru-RU" dirty="1"/>
            </a:lvl5pPr>
          </a:lstStyle>
          <a:p>
            <a:r>
              <a:rPr sz="16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sz="1600" lang="ru-RU" dirty="1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4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r>
              <a:rPr sz="12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2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2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2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4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4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4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800" b="0" baseline="0" lang="ru-RU" dirty="1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sz="2400" lang="ru-RU" dirty="1"/>
            </a:lvl2pPr>
            <a:lvl3pPr marL="914400" indent="0">
              <a:buFont typeface="Arial"/>
              <a:buNone/>
              <a:defRPr sz="2000" lang="ru-RU" dirty="1"/>
            </a:lvl3pPr>
            <a:lvl4pPr marL="1371600" indent="0">
              <a:buFont typeface="Arial"/>
              <a:buNone/>
              <a:defRPr sz="1800" lang="ru-RU" dirty="1"/>
            </a:lvl4pPr>
            <a:lvl5pPr marL="1828800" indent="0">
              <a:buFont typeface="Arial"/>
              <a:buNone/>
              <a:defRPr sz="180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20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 lang="ru-RU" dirty="1"/>
            </a:lvl1pPr>
            <a:lvl2pPr marL="457200" indent="0">
              <a:buFontTx/>
              <a:buNone/>
              <a:defRPr sz="1600" baseline="0" lang="ru-RU" dirty="1"/>
            </a:lvl2pPr>
            <a:lvl3pPr marL="914400" indent="0">
              <a:buFontTx/>
              <a:buNone/>
              <a:defRPr sz="1600" baseline="0" lang="ru-RU" dirty="1"/>
            </a:lvl3pPr>
            <a:lvl4pPr marL="1371600" indent="0">
              <a:buFontTx/>
              <a:buNone/>
              <a:defRPr sz="1600" baseline="0" lang="ru-RU" dirty="1"/>
            </a:lvl4pPr>
            <a:lvl5pPr>
              <a:buFontTx/>
              <a:buNone/>
              <a:defRPr sz="1600" baseline="0" lang="ru-RU" dirty="1"/>
            </a:lvl5pPr>
          </a:lstStyle>
          <a:p>
            <a:r>
              <a:rPr sz="16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sz="1600" lang="ru-RU" dirty="1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4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r>
              <a:rPr sz="12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2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2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2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4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4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4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800" b="0" baseline="0" lang="ru-RU" dirty="1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sz="2400" lang="ru-RU" dirty="1"/>
            </a:lvl2pPr>
            <a:lvl3pPr marL="914400" indent="0">
              <a:buFont typeface="Arial"/>
              <a:buNone/>
              <a:defRPr sz="2000" lang="ru-RU" dirty="1"/>
            </a:lvl3pPr>
            <a:lvl4pPr marL="1371600" indent="0">
              <a:buFont typeface="Arial"/>
              <a:buNone/>
              <a:defRPr sz="1800" lang="ru-RU" dirty="1"/>
            </a:lvl4pPr>
            <a:lvl5pPr marL="1828800" indent="0">
              <a:buFont typeface="Arial"/>
              <a:buNone/>
              <a:defRPr sz="180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20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600" baseline="0" lang="ru-RU" dirty="1"/>
            </a:lvl1pPr>
            <a:lvl2pPr marL="457200" indent="0">
              <a:buFontTx/>
              <a:buNone/>
              <a:defRPr sz="1600" baseline="0" lang="ru-RU" dirty="1"/>
            </a:lvl2pPr>
            <a:lvl3pPr marL="914400" indent="0">
              <a:buFontTx/>
              <a:buNone/>
              <a:defRPr sz="1600" baseline="0" lang="ru-RU" dirty="1"/>
            </a:lvl3pPr>
            <a:lvl4pPr marL="1371600" indent="0">
              <a:buFontTx/>
              <a:buNone/>
              <a:defRPr sz="1600" baseline="0" lang="ru-RU" dirty="1"/>
            </a:lvl4pPr>
            <a:lvl5pPr>
              <a:buFontTx/>
              <a:buNone/>
              <a:defRPr sz="1600" baseline="0" lang="ru-RU" dirty="1"/>
            </a:lvl5pPr>
          </a:lstStyle>
          <a:p>
            <a:r>
              <a:rPr sz="16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sz="1600" lang="ru-RU" dirty="1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6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6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sz="16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sz="16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конец списка.</a:t>
            </a:r>
          </a:p>
          <a:p>
            <a:pPr lvl="0">
              <a:buNone/>
            </a:pPr>
            <a:endParaRPr lang="ru-RU" dirty="1"/>
          </a:p>
          <a:p>
            <a:pPr lvl="0">
              <a:buNone/>
            </a:pPr>
            <a:endParaRPr lang="ru-RU" dirty="1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r>
              <a:rPr sz="12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2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2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2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4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4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4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r>
              <a:rPr sz="14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>
                <a:solidFill>
                  <a:schemeClr val="bg1"/>
                </a:solidFill>
              </a:defRPr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r>
              <a:rPr sz="14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>
                <a:solidFill>
                  <a:schemeClr val="bg1"/>
                </a:solidFill>
              </a:defRPr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r>
              <a:rPr sz="14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>
                <a:solidFill>
                  <a:schemeClr val="bg1"/>
                </a:solidFill>
              </a:defRPr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r>
              <a:rPr sz="14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>
            <a:extLst>
              <a:ext uri="{FF2B5EF4-FFF2-40B4-BE49-F238E27FC236}">
                <a16:creationId xmlns:a16="http://schemas.microsoft.com/office/drawing/2014/main" id="{65B2B28D-F8F0-4702-AFA9-6A0AA77E1CA4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E624205A-946A-4979-A674-F6F1288A5D66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8FE248D6-0072-4355-B2F5-2312B65D9A5F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7D12391-622D-450F-B47C-05853BE2CFA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 lang="ru-RU" dirty="1"/>
            </a:lvl1pPr>
            <a:lvl2pPr>
              <a:buNone/>
              <a:defRPr sz="1600" lang="ru-RU" dirty="1"/>
            </a:lvl2pPr>
            <a:lvl3pPr>
              <a:buNone/>
              <a:defRPr sz="1600" lang="ru-RU" dirty="1"/>
            </a:lvl3pPr>
            <a:lvl4pPr>
              <a:buNone/>
              <a:defRPr sz="1600" lang="ru-RU" dirty="1"/>
            </a:lvl4pPr>
            <a:lvl5pPr>
              <a:buNone/>
              <a:defRPr sz="160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pPr lvl="0">
              <a:buNone/>
            </a:pPr>
            <a:r>
              <a:rPr lang="ru-RU" dirty="1"/>
              <a:t>Текст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4DD8E076-1454-4C1E-972A-A2FE86847FBB}"/>
              </a:ext>
            </a:extLst>
          </p:cNvPr>
          <p:cNvSpPr>
            <a:spLocks noGrp="1"/>
          </p:cNvSpPr>
          <p:nvPr>
            <p:ph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 lang="ru-RU" dirty="1"/>
            </a:lvl1pPr>
            <a:lvl2pPr>
              <a:buNone/>
              <a:defRPr sz="1200" baseline="0" lang="ru-RU" dirty="1"/>
            </a:lvl2pPr>
            <a:lvl3pPr>
              <a:buNone/>
              <a:defRPr sz="1200" baseline="0" lang="ru-RU" dirty="1"/>
            </a:lvl3pPr>
            <a:lvl4pPr>
              <a:buNone/>
              <a:defRPr sz="1200" baseline="0" lang="ru-RU" dirty="1"/>
            </a:lvl4pPr>
            <a:lvl5pPr>
              <a:buNone/>
              <a:defRPr sz="1200" baseline="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pPr lvl="0">
              <a:buNone/>
            </a:pPr>
            <a:r>
              <a:rPr lang="ru-RU" dirty="1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 lang="ru-RU" dirty="1"/>
            </a:lvl1pPr>
            <a:lvl2pPr>
              <a:buNone/>
              <a:defRPr sz="1200" baseline="0" lang="ru-RU" dirty="1"/>
            </a:lvl2pPr>
            <a:lvl3pPr>
              <a:buNone/>
              <a:defRPr sz="1200" baseline="0" lang="ru-RU" dirty="1"/>
            </a:lvl3pPr>
            <a:lvl4pPr>
              <a:buNone/>
              <a:defRPr sz="1200" baseline="0" lang="ru-RU" dirty="1"/>
            </a:lvl4pPr>
            <a:lvl5pPr>
              <a:buNone/>
              <a:defRPr sz="1200" baseline="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pPr lvl="0">
              <a:buNone/>
            </a:pPr>
            <a:r>
              <a:rPr lang="ru-RU" dirty="1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1"/>
          </a:p>
        </p:txBody>
      </p:sp>
    </p:spTree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pPr lvl="0">
              <a:buNone/>
            </a:pPr>
            <a:r>
              <a:rPr lang="ru-RU" dirty="1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pPr lvl="0">
              <a:buNone/>
            </a:pPr>
            <a:r>
              <a:rPr lang="ru-RU" dirty="1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1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FECEFEE4-7D8A-48DB-B0D3-4F7CEAF834D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3D32FF7A-E9B9-445A-B189-DF505FB23B69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C95914E2-675E-4EAC-96A6-FB9029C2767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buNone/>
              <a:defRPr lang="ru-RU" dirty="1"/>
            </a:lvl1pPr>
          </a:lstStyle>
          <a:p>
            <a:r>
              <a:rPr lang="ru-RU" dirty="1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buNone/>
              <a:defRPr lang="ru-RU" dirty="1"/>
            </a:lvl1pPr>
          </a:lstStyle>
          <a:p>
            <a:r>
              <a:rPr lang="ru-RU" dirty="1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buNone/>
              <a:defRPr lang="ru-RU" dirty="1"/>
            </a:lvl1pPr>
          </a:lstStyle>
          <a:p>
            <a:r>
              <a:rPr lang="ru-RU" dirty="1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buNone/>
              <a:defRPr lang="ru-RU" dirty="1"/>
            </a:lvl1pPr>
          </a:lstStyle>
          <a:p>
            <a:r>
              <a:rPr lang="ru-RU" dirty="1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buNone/>
              <a:defRPr lang="ru-RU" dirty="1"/>
            </a:lvl1pPr>
          </a:lstStyle>
          <a:p>
            <a:r>
              <a:rPr lang="ru-RU" dirty="1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buNone/>
              <a:defRPr lang="ru-RU" dirty="1"/>
            </a:lvl1pPr>
          </a:lstStyle>
          <a:p>
            <a:r>
              <a:rPr lang="ru-RU" dirty="1"/>
              <a:t>Изображение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6BB737-84D5-4F0D-B907-734285AA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rPr lang="ru-RU" dirty="1"/>
              <a:t>Заголовок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F4C78-7AD4-4394-A905-D051084D0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rPr lang="ru-RU" dirty="1"/>
              <a:t>Образец текста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BB5EE-877F-48A7-909E-9BCEFC29ECBE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dirty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dirty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sldNum="0" hdr="0" dt="0"/>
  <p:txStyles>
    <p:titleStyle>
      <a:lvl1pPr algn="l" defTabSz="457200">
        <a:spcBef>
          <a:spcPct val="0"/>
        </a:spcBef>
        <a:buNone/>
        <a:defRPr sz="3600" b="1" i="0" kern="1200" baseline="0" lang="ru-RU" dirty="1">
          <a:solidFill>
            <a:schemeClr val="tx1"/>
          </a:solidFill>
          <a:latin typeface="ALS Gorizont Bold Expanded"/>
          <a:ea typeface="ALS Gorizont Bold Expanded"/>
          <a:cs typeface="ALS Gorizont Bold Expanded"/>
        </a:defRPr>
      </a:lvl1pPr>
    </p:titleStyle>
    <p:bodyStyle>
      <a:lvl1pPr marL="0" indent="0" algn="l" defTabSz="457200">
        <a:spcBef>
          <a:spcPct val="20000"/>
        </a:spcBef>
        <a:buSzPct val="100000"/>
        <a:buFont typeface="Arial"/>
        <a:buNone/>
        <a:defRPr sz="2000" kern="1200" lang="ru-RU" dirty="1">
          <a:solidFill>
            <a:schemeClr val="tx1"/>
          </a:solidFill>
          <a:latin typeface="Golos Text"/>
          <a:ea typeface="Golos Text"/>
          <a:cs typeface="Golos Text"/>
        </a:defRPr>
      </a:lvl1pPr>
      <a:lvl2pPr marL="742950" indent="-285750" algn="l" defTabSz="457200">
        <a:spcBef>
          <a:spcPct val="20000"/>
        </a:spcBef>
        <a:buFont typeface="Arial"/>
        <a:buChar char="•"/>
        <a:defRPr sz="2000" kern="1200" lang="ru-RU" dirty="1">
          <a:solidFill>
            <a:schemeClr val="tx1"/>
          </a:solidFill>
          <a:latin typeface="Golos Text"/>
          <a:ea typeface="Golos Text"/>
          <a:cs typeface="Golos Tex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1600" kern="1200" lang="ru-RU" dirty="1">
          <a:solidFill>
            <a:schemeClr val="tx1"/>
          </a:solidFill>
          <a:latin typeface="Golos Text"/>
          <a:ea typeface="Golos Text"/>
          <a:cs typeface="Golos Text"/>
        </a:defRPr>
      </a:lvl3pPr>
      <a:lvl4pPr marL="1600200" indent="-228600" algn="l" defTabSz="457200">
        <a:spcBef>
          <a:spcPct val="20000"/>
        </a:spcBef>
        <a:buFont typeface="Arial"/>
        <a:buChar char="•"/>
        <a:defRPr sz="1600" kern="1200" lang="ru-RU" dirty="1">
          <a:solidFill>
            <a:schemeClr val="tx1"/>
          </a:solidFill>
          <a:latin typeface="Golos Text"/>
          <a:ea typeface="Golos Text"/>
          <a:cs typeface="Golos Text"/>
        </a:defRPr>
      </a:lvl4pPr>
      <a:lvl5pPr marL="1828800" indent="0" algn="l" defTabSz="457200">
        <a:spcBef>
          <a:spcPct val="20000"/>
        </a:spcBef>
        <a:buFont typeface="Arial"/>
        <a:buNone/>
        <a:defRPr sz="1600" kern="1200" lang="ru-RU" dirty="1">
          <a:solidFill>
            <a:schemeClr val="tx1"/>
          </a:solidFill>
          <a:latin typeface="Golos Text"/>
          <a:ea typeface="Golos Text"/>
          <a:cs typeface="Golos Tex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 lang="ru-RU" dirty="1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 lang="ru-RU" dirty="1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 lang="ru-RU" dirty="1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 lang="ru-RU" dirty="1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4DCB2ED-C2C7-4F73-9707-07714E4F47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C3D9BF4-554E-46BF-BF2F-59A2909B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2047875"/>
            <a:ext cx="7620000" cy="1047750"/>
          </a:xfrm>
        </p:spPr>
        <p:txBody>
          <a:bodyPr lIns="0" tIns="0" rIns="0" bIns="0">
            <a:noAutofit/>
          </a:bodyPr>
          <a:lstStyle>
            <a:def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ctr">
              <a:buNone/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850" b="1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Разработка</a:t>
            </a:r>
            <a:r>
              <a:rPr sz="2850" b="1" dirty="1" lang="ru-RU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dirty="1"/>
              <a:t>инструмента</a:t>
            </a:r>
            <a:r>
              <a:rPr sz="2850" b="1" dirty="1" lang="ru-RU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2850" b="1" dirty="1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фаззинга</a:t>
            </a:r>
            <a:endParaRPr lang="ru-RU" sz="4400" dirty="1">
              <a:solidFill>
                <a:schemeClr val="bg1"/>
              </a:solidFill>
            </a:endParaRPr>
          </a:p>
          <a:p>
            <a:pPr algn="ctr">
              <a:buNone/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en-US" sz="2850" b="1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сервисов на userver</a:t>
            </a:r>
            <a:r>
              <a:rPr lang="ru-RU" sz="2850" b="1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/>
            </a:r>
            <a:r>
              <a:rPr lang="en-US" sz="2850" b="1" err="1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/>
            </a:r>
            <a:endParaRPr lang="ru-RU" sz="4400" dirty="1">
              <a:solidFill>
                <a:schemeClr val="bg1"/>
              </a:solidFill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68B0D255-1FAD-41E8-920A-0E6D871E322E}"/>
              </a:ext>
            </a:extLst>
          </p:cNvPr>
          <p:cNvSpPr>
            <a:spLocks noGrp="1"/>
          </p:cNvSpPr>
          <p:nvPr/>
        </p:nvSpPr>
        <p:spPr>
          <a:xfrm>
            <a:off x="4271462" y="4286250"/>
            <a:ext cx="4110538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 err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Автор</a:t>
            </a:r>
            <a:r>
              <a: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 dirty="1"/>
              <a:t>Скрябин Иван Александрович</a:t>
            </a:r>
            <a:endParaRPr sz="1425" b="0" lang="ru-RU" dirty="1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  <p:sp>
        <p:nvSpPr>
          <p:cNvPr id="10" name="supervisor">
            <a:extLst>
              <a:ext uri="{FF2B5EF4-FFF2-40B4-BE49-F238E27FC236}">
                <a16:creationId xmlns:a16="http://schemas.microsoft.com/office/drawing/2014/main" id="{5AFAB234-403E-439B-8BC2-26488FBE67C6}"/>
              </a:ext>
            </a:extLst>
          </p:cNvPr>
          <p:cNvSpPr>
            <a:spLocks noGrp="1"/>
          </p:cNvSpPr>
          <p:nvPr/>
        </p:nvSpPr>
        <p:spPr>
          <a:xfrm>
            <a:off x="4271462" y="4562475"/>
            <a:ext cx="4110537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 err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Научный</a:t>
            </a:r>
            <a:r>
              <a: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sz="1425" b="0" err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руководитель</a:t>
            </a:r>
            <a:r>
              <a: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 dirty="1"/>
              <a:t>Степанов Даниил Сергеевич</a:t>
            </a:r>
            <a:endParaRPr sz="1425" b="0" lang="ru-RU" dirty="1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BEDAA4-A0F7-426D-B8B6-8ABB3F5F8E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Актуальность темы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8CEF388-D499-452F-A74E-2CDEB8B531CB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2</a:t>
            </a:r>
          </a:p>
        </p:txBody>
      </p:sp>
      <p:sp>
        <p:nvSpPr>
          <p:cNvPr id="6" name="parameter-title">
            <a:extLst>
              <a:ext uri="{FF2B5EF4-FFF2-40B4-BE49-F238E27FC236}">
                <a16:creationId xmlns:a16="http://schemas.microsoft.com/office/drawing/2014/main" id="{C77CE6D6-B57E-4666-BCAE-9695D868B6E3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Надёжность сервисов</a:t>
            </a:r>
          </a:p>
        </p:txBody>
      </p:sp>
      <p:sp>
        <p:nvSpPr>
          <p:cNvPr id="7" name="parameter-text">
            <a:extLst>
              <a:ext uri="{FF2B5EF4-FFF2-40B4-BE49-F238E27FC236}">
                <a16:creationId xmlns:a16="http://schemas.microsoft.com/office/drawing/2014/main" id="{39A79D49-D7B0-4990-812E-B1A21A0AFCE5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620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Сбои обработки запросов могут приводить к падениям</a:t>
            </a:r>
          </a:p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сервиса и нарушению контрактов API.</a:t>
            </a:r>
          </a:p>
        </p:txBody>
      </p:sp>
      <p:sp>
        <p:nvSpPr>
          <p:cNvPr id="8" name="state-title">
            <a:extLst>
              <a:ext uri="{FF2B5EF4-FFF2-40B4-BE49-F238E27FC236}">
                <a16:creationId xmlns:a16="http://schemas.microsoft.com/office/drawing/2014/main" id="{A22691A7-1D07-45FD-BE02-732939690C43}"/>
              </a:ext>
            </a:extLst>
          </p:cNvPr>
          <p:cNvSpPr>
            <a:spLocks noGrp="1"/>
          </p:cNvSpPr>
          <p:nvPr/>
        </p:nvSpPr>
        <p:spPr>
          <a:xfrm>
            <a:off x="571500" y="2438400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Поиск ошибок за пределами ручных тестов</a:t>
            </a:r>
          </a:p>
        </p:txBody>
      </p:sp>
      <p:sp>
        <p:nvSpPr>
          <p:cNvPr id="9" name="state-text">
            <a:extLst>
              <a:ext uri="{FF2B5EF4-FFF2-40B4-BE49-F238E27FC236}">
                <a16:creationId xmlns:a16="http://schemas.microsoft.com/office/drawing/2014/main" id="{B876764D-E4FD-4436-B7EF-1C1FE6292817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7620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Ручные тесты проверяют заранее выбранные случаи.</a:t>
            </a:r>
          </a:p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 дополняет их поиском неожиданных входов.</a:t>
            </a:r>
          </a:p>
        </p:txBody>
      </p:sp>
      <p:sp>
        <p:nvSpPr>
          <p:cNvPr id="10" name="integration-title">
            <a:extLst>
              <a:ext uri="{FF2B5EF4-FFF2-40B4-BE49-F238E27FC236}">
                <a16:creationId xmlns:a16="http://schemas.microsoft.com/office/drawing/2014/main" id="{27C9A2E3-9DE7-4BF7-9D26-8E2635C88688}"/>
              </a:ext>
            </a:extLst>
          </p:cNvPr>
          <p:cNvSpPr>
            <a:spLocks noGrp="1"/>
          </p:cNvSpPr>
          <p:nvPr/>
        </p:nvSpPr>
        <p:spPr>
          <a:xfrm>
            <a:off x="571500" y="3571875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Снижение затрат на внедрение фаззинга</a:t>
            </a:r>
          </a:p>
        </p:txBody>
      </p:sp>
      <p:sp>
        <p:nvSpPr>
          <p:cNvPr id="11" name="integration-text">
            <a:extLst>
              <a:ext uri="{FF2B5EF4-FFF2-40B4-BE49-F238E27FC236}">
                <a16:creationId xmlns:a16="http://schemas.microsoft.com/office/drawing/2014/main" id="{161323BF-372C-459B-99EF-2B591161FD16}"/>
              </a:ext>
            </a:extLst>
          </p:cNvPr>
          <p:cNvSpPr>
            <a:spLocks noGrp="1"/>
          </p:cNvSpPr>
          <p:nvPr/>
        </p:nvSpPr>
        <p:spPr>
          <a:xfrm>
            <a:off x="571500" y="3933825"/>
            <a:ext cx="7620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Интеграция с testsuite должна упростить подключение</a:t>
            </a:r>
          </a:p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фаззинга к userver-сервисам и воспроизведение сбоев.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5220BD-5904-4024-A795-13A236CEE7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Обзор подходов и аналогов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DE4906EB-77B9-4C47-837B-F55E1CE672FA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D43F4B-A5A6-4611-A07D-45292CD2BAFA}"/>
              </a:ext>
            </a:extLst>
          </p:cNvPr>
          <p:cNvGraphicFramePr/>
          <p:nvPr/>
        </p:nvGraphicFramePr>
        <p:xfrm>
          <a:off x="571500" y="1552575"/>
          <a:ext cx="7848600" cy="2238375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6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r>
                        <a:rPr sz="1350" b="1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Инструмент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Основной подход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Вопрос для нашего проекта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88" b="1" lang="en-US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Schemathesis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en-US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OpenAPI, Python,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stateful-цепочки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en-US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Async testsuite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Покрытие C++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88" b="1" lang="en-US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RESTler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Зависимости между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запросами и цепочки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Изоляция окружения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Воспроизведение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88" b="1" lang="en-US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EvoMaster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Генерация API-тестов,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black-box режим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 ошибок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на C++-стендах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88" b="1" lang="en-US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WuppieFuzz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Фаззинг REST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 обратной связью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Покрытие C++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Сброс состояния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comparison-result">
            <a:extLst>
              <a:ext uri="{FF2B5EF4-FFF2-40B4-BE49-F238E27FC236}">
                <a16:creationId xmlns:a16="http://schemas.microsoft.com/office/drawing/2014/main" id="{D2E75C01-CD3E-41D0-8FA9-F175CD207D9E}"/>
              </a:ext>
            </a:extLst>
          </p:cNvPr>
          <p:cNvSpPr>
            <a:spLocks noGrp="1"/>
          </p:cNvSpPr>
          <p:nvPr/>
        </p:nvSpPr>
        <p:spPr>
          <a:xfrm>
            <a:off x="571500" y="4143375"/>
            <a:ext cx="77533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Фокус работы: совместить поиск цепочек и данных</a:t>
            </a:r>
          </a:p>
          <a:p>
            <a: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 изоляцией testsuite и обратной связью из C++.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46CB16-2220-4F03-A926-E355EFB80C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и гипотеза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EAB69913-E9DB-4ADE-A92E-5E91273BB724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4</a:t>
            </a:r>
          </a:p>
        </p:txBody>
      </p:sp>
      <p:sp>
        <p:nvSpPr>
          <p:cNvPr id="6" name="goal-label">
            <a:extLst>
              <a:ext uri="{FF2B5EF4-FFF2-40B4-BE49-F238E27FC236}">
                <a16:creationId xmlns:a16="http://schemas.microsoft.com/office/drawing/2014/main" id="{8EDDA326-5DA1-4AF6-A83A-594022A9933A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работы</a:t>
            </a:r>
          </a:p>
        </p:txBody>
      </p:sp>
      <p:sp>
        <p:nvSpPr>
          <p:cNvPr id="7" name="goal">
            <a:extLst>
              <a:ext uri="{FF2B5EF4-FFF2-40B4-BE49-F238E27FC236}">
                <a16:creationId xmlns:a16="http://schemas.microsoft.com/office/drawing/2014/main" id="{EB6100D9-64D4-4A0F-8241-17AAC27131EB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78105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Разработать и оценить инструмент grey-box фаззинга</a:t>
            </a:r>
          </a:p>
          <a:p>
            <a: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сервисов на userver с интеграцией в testsuite.</a:t>
            </a:r>
          </a:p>
        </p:txBody>
      </p:sp>
      <p:sp>
        <p:nvSpPr>
          <p:cNvPr id="8" name="hypothesis-label">
            <a:extLst>
              <a:ext uri="{FF2B5EF4-FFF2-40B4-BE49-F238E27FC236}">
                <a16:creationId xmlns:a16="http://schemas.microsoft.com/office/drawing/2014/main" id="{5A22819A-00C5-4F5C-AF50-8A4BC032FF0F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Проверяемая гипотеза</a:t>
            </a:r>
          </a:p>
        </p:txBody>
      </p:sp>
      <p:sp>
        <p:nvSpPr>
          <p:cNvPr id="9" name="hypothesis">
            <a:extLst>
              <a:ext uri="{FF2B5EF4-FFF2-40B4-BE49-F238E27FC236}">
                <a16:creationId xmlns:a16="http://schemas.microsoft.com/office/drawing/2014/main" id="{F4388EF1-94AF-464D-B732-EFA734E117F2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7810500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Обратная связь по покрытию C++ и пользовательские</a:t>
            </a:r>
          </a:p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сценарии повышают эффективность поиска ошибок.</a:t>
            </a:r>
          </a:p>
        </p:txBody>
      </p:sp>
      <p:sp>
        <p:nvSpPr>
          <p:cNvPr id="10" name="evaluation">
            <a:extLst>
              <a:ext uri="{FF2B5EF4-FFF2-40B4-BE49-F238E27FC236}">
                <a16:creationId xmlns:a16="http://schemas.microsoft.com/office/drawing/2014/main" id="{3035EA1D-DCE3-4B88-8DB2-5C12079B9C9C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7810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Проверка: сравнить режимы с этими возможностями</a:t>
            </a:r>
          </a:p>
          <a:p>
            <a: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и без них при одинаковом бюджете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AB693A-5A7F-4E77-B6E2-49F43C29FA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Предлагаемый инструмент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993F67C-0282-406F-9EA7-3ED629065AA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5</a:t>
            </a:r>
          </a:p>
        </p:txBody>
      </p:sp>
      <p:sp>
        <p:nvSpPr>
          <p:cNvPr id="6" name="mode-0">
            <a:extLst>
              <a:ext uri="{FF2B5EF4-FFF2-40B4-BE49-F238E27FC236}">
                <a16:creationId xmlns:a16="http://schemas.microsoft.com/office/drawing/2014/main" id="{12A06D97-B12D-4998-8E46-AB649B746510}"/>
              </a:ext>
            </a:extLst>
          </p:cNvPr>
          <p:cNvSpPr>
            <a:spLocks noGrp="1"/>
          </p:cNvSpPr>
          <p:nvPr/>
        </p:nvSpPr>
        <p:spPr>
          <a:xfrm>
            <a:off x="571500" y="134302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01  Отдельные запросы</a:t>
            </a:r>
          </a:p>
        </p:txBody>
      </p:sp>
      <p:sp>
        <p:nvSpPr>
          <p:cNvPr id="7" name="mode-body-0">
            <a:extLst>
              <a:ext uri="{FF2B5EF4-FFF2-40B4-BE49-F238E27FC236}">
                <a16:creationId xmlns:a16="http://schemas.microsoft.com/office/drawing/2014/main" id="{9DBC0B40-BEDC-4EEB-A95C-C2730A25BA9C}"/>
              </a:ext>
            </a:extLst>
          </p:cNvPr>
          <p:cNvSpPr>
            <a:spLocks noGrp="1"/>
          </p:cNvSpPr>
          <p:nvPr/>
        </p:nvSpPr>
        <p:spPr>
          <a:xfrm>
            <a:off x="571500" y="173355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Генерация по API-схеме и проверка контракта ответа.</a:t>
            </a:r>
          </a:p>
        </p:txBody>
      </p:sp>
      <p:sp>
        <p:nvSpPr>
          <p:cNvPr id="8" name="mode-1">
            <a:extLst>
              <a:ext uri="{FF2B5EF4-FFF2-40B4-BE49-F238E27FC236}">
                <a16:creationId xmlns:a16="http://schemas.microsoft.com/office/drawing/2014/main" id="{280A55B5-B6C1-4D85-AFA0-153BF0983D3C}"/>
              </a:ext>
            </a:extLst>
          </p:cNvPr>
          <p:cNvSpPr>
            <a:spLocks noGrp="1"/>
          </p:cNvSpPr>
          <p:nvPr/>
        </p:nvSpPr>
        <p:spPr>
          <a:xfrm>
            <a:off x="571500" y="2286000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02  Цепочки без пользовательских сценариев</a:t>
            </a:r>
          </a:p>
        </p:txBody>
      </p:sp>
      <p:sp>
        <p:nvSpPr>
          <p:cNvPr id="9" name="mode-body-1">
            <a:extLst>
              <a:ext uri="{FF2B5EF4-FFF2-40B4-BE49-F238E27FC236}">
                <a16:creationId xmlns:a16="http://schemas.microsoft.com/office/drawing/2014/main" id="{2AE14458-A37A-4A87-B67C-27BE3A8EA9AA}"/>
              </a:ext>
            </a:extLst>
          </p:cNvPr>
          <p:cNvSpPr>
            <a:spLocks noGrp="1"/>
          </p:cNvSpPr>
          <p:nvPr/>
        </p:nvSpPr>
        <p:spPr>
          <a:xfrm>
            <a:off x="571500" y="2676525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Автоматический выбор порядка, повторов и связей данных.</a:t>
            </a:r>
          </a:p>
        </p:txBody>
      </p:sp>
      <p:sp>
        <p:nvSpPr>
          <p:cNvPr id="10" name="mode-2">
            <a:extLst>
              <a:ext uri="{FF2B5EF4-FFF2-40B4-BE49-F238E27FC236}">
                <a16:creationId xmlns:a16="http://schemas.microsoft.com/office/drawing/2014/main" id="{D75719C9-EBFA-43AF-A49C-165D76A17E99}"/>
              </a:ext>
            </a:extLst>
          </p:cNvPr>
          <p:cNvSpPr>
            <a:spLocks noGrp="1"/>
          </p:cNvSpPr>
          <p:nvPr/>
        </p:nvSpPr>
        <p:spPr>
          <a:xfrm>
            <a:off x="571500" y="322897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03  Цепочки по сценариям на Python</a:t>
            </a:r>
          </a:p>
        </p:txBody>
      </p:sp>
      <p:sp>
        <p:nvSpPr>
          <p:cNvPr id="11" name="mode-body-2">
            <a:extLst>
              <a:ext uri="{FF2B5EF4-FFF2-40B4-BE49-F238E27FC236}">
                <a16:creationId xmlns:a16="http://schemas.microsoft.com/office/drawing/2014/main" id="{9AD1C62F-42AC-48CA-8FD7-26BE3CE0E893}"/>
              </a:ext>
            </a:extLst>
          </p:cNvPr>
          <p:cNvSpPr>
            <a:spLocks noGrp="1"/>
          </p:cNvSpPr>
          <p:nvPr/>
        </p:nvSpPr>
        <p:spPr>
          <a:xfrm>
            <a:off x="571500" y="361950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 case задаёт стартовую последовательность для мутаций.</a:t>
            </a:r>
          </a:p>
        </p:txBody>
      </p:sp>
      <p:sp>
        <p:nvSpPr>
          <p:cNvPr id="12" name="common">
            <a:extLst>
              <a:ext uri="{FF2B5EF4-FFF2-40B4-BE49-F238E27FC236}">
                <a16:creationId xmlns:a16="http://schemas.microsoft.com/office/drawing/2014/main" id="{186BE8BB-B61D-483D-8348-0FC4BE3792CC}"/>
              </a:ext>
            </a:extLst>
          </p:cNvPr>
          <p:cNvSpPr>
            <a:spLocks noGrp="1"/>
          </p:cNvSpPr>
          <p:nvPr/>
        </p:nvSpPr>
        <p:spPr>
          <a:xfrm>
            <a:off x="571500" y="4171950"/>
            <a:ext cx="77343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Первый прототип: REST / OpenAPI.</a:t>
            </a:r>
          </a:p>
          <a:p>
            <a: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Потенциальное расширение: gRPC / Protocol Buffers.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BB1E20-72B8-4151-8BF5-064F11FC49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Пример исследования сценария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1BDDECDA-4D62-41B6-BA28-6FC7C9A82605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6</a:t>
            </a:r>
          </a:p>
        </p:txBody>
      </p:sp>
      <p:sp>
        <p:nvSpPr>
          <p:cNvPr id="6" name="left-label">
            <a:extLst>
              <a:ext uri="{FF2B5EF4-FFF2-40B4-BE49-F238E27FC236}">
                <a16:creationId xmlns:a16="http://schemas.microsoft.com/office/drawing/2014/main" id="{C1B30343-000E-49E0-917E-520B4C2195F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Сценарий разработчика</a:t>
            </a:r>
          </a:p>
        </p:txBody>
      </p:sp>
      <p:sp>
        <p:nvSpPr>
          <p:cNvPr id="7" name="right-label">
            <a:extLst>
              <a:ext uri="{FF2B5EF4-FFF2-40B4-BE49-F238E27FC236}">
                <a16:creationId xmlns:a16="http://schemas.microsoft.com/office/drawing/2014/main" id="{F5D66CFC-5B57-4FC2-A2F6-4AA7C63C61DF}"/>
              </a:ext>
            </a:extLst>
          </p:cNvPr>
          <p:cNvSpPr>
            <a:spLocks noGrp="1"/>
          </p:cNvSpPr>
          <p:nvPr/>
        </p:nvSpPr>
        <p:spPr>
          <a:xfrm>
            <a:off x="4524375" y="1362075"/>
            <a:ext cx="38576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Один из вариантов фаззера</a:t>
            </a:r>
          </a:p>
        </p:txBody>
      </p:sp>
      <p:sp>
        <p:nvSpPr>
          <p:cNvPr id="8" name="left-code">
            <a:extLst>
              <a:ext uri="{FF2B5EF4-FFF2-40B4-BE49-F238E27FC236}">
                <a16:creationId xmlns:a16="http://schemas.microsoft.com/office/drawing/2014/main" id="{F8C34E30-1564-4644-BBC3-1A55D1D8A610}"/>
              </a:ext>
            </a:extLst>
          </p:cNvPr>
          <p:cNvSpPr>
            <a:spLocks noGrp="1"/>
          </p:cNvSpPr>
          <p:nvPr/>
        </p:nvSpPr>
        <p:spPr>
          <a:xfrm>
            <a:off x="571500" y="1952625"/>
            <a:ext cx="36671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en-US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en-US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9" name="right-code">
            <a:extLst>
              <a:ext uri="{FF2B5EF4-FFF2-40B4-BE49-F238E27FC236}">
                <a16:creationId xmlns:a16="http://schemas.microsoft.com/office/drawing/2014/main" id="{3630F1C2-54A3-48E9-BEDE-3584FA0E8409}"/>
              </a:ext>
            </a:extLst>
          </p:cNvPr>
          <p:cNvSpPr>
            <a:spLocks noGrp="1"/>
          </p:cNvSpPr>
          <p:nvPr/>
        </p:nvSpPr>
        <p:spPr>
          <a:xfrm>
            <a:off x="4524375" y="1952625"/>
            <a:ext cx="38576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en-US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en-US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en-US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10" name="mutation-takeaway">
            <a:extLst>
              <a:ext uri="{FF2B5EF4-FFF2-40B4-BE49-F238E27FC236}">
                <a16:creationId xmlns:a16="http://schemas.microsoft.com/office/drawing/2014/main" id="{4821416A-8076-4D25-8EDA-DF0CC98981B7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7715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Число повторений и входные значения</a:t>
            </a:r>
          </a:p>
          <a:p>
            <a: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подбирает самостоятельно.</a:t>
            </a:r>
          </a:p>
        </p:txBody>
      </p:sp>
      <p:sp>
        <p:nvSpPr>
          <p:cNvPr id="11" name="binding">
            <a:extLst>
              <a:ext uri="{FF2B5EF4-FFF2-40B4-BE49-F238E27FC236}">
                <a16:creationId xmlns:a16="http://schemas.microsoft.com/office/drawing/2014/main" id="{7CA50273-0D85-49B4-BBB4-2B1D4C2E08C5}"/>
              </a:ext>
            </a:extLst>
          </p:cNvPr>
          <p:cNvSpPr>
            <a:spLocks noGrp="1"/>
          </p:cNvSpPr>
          <p:nvPr/>
        </p:nvSpPr>
        <p:spPr>
          <a:xfrm>
            <a:off x="571500" y="4095750"/>
            <a:ext cx="77152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Контекст сохраняет связи данных между вызовами.</a:t>
            </a:r>
          </a:p>
          <a:p>
            <a: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Поиск включает неожиданный порядок и устаревшие значения.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F6B52D-FDDF-4143-9B84-B105EADB2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Окружение и изоляция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4C325EB4-49C8-42E3-956E-1222B6FD55E3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7</a:t>
            </a:r>
          </a:p>
        </p:txBody>
      </p:sp>
      <p:sp>
        <p:nvSpPr>
          <p:cNvPr id="6" name="dependency-0">
            <a:extLst>
              <a:ext uri="{FF2B5EF4-FFF2-40B4-BE49-F238E27FC236}">
                <a16:creationId xmlns:a16="http://schemas.microsoft.com/office/drawing/2014/main" id="{F449F438-C221-4B9B-9085-072EC68031EF}"/>
              </a:ext>
            </a:extLst>
          </p:cNvPr>
          <p:cNvSpPr>
            <a:spLocks noGrp="1"/>
          </p:cNvSpPr>
          <p:nvPr/>
        </p:nvSpPr>
        <p:spPr>
          <a:xfrm>
            <a:off x="571500" y="1343025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HTTP-моки</a:t>
            </a:r>
          </a:p>
        </p:txBody>
      </p:sp>
      <p:sp>
        <p:nvSpPr>
          <p:cNvPr id="7" name="dependency-body-0">
            <a:extLst>
              <a:ext uri="{FF2B5EF4-FFF2-40B4-BE49-F238E27FC236}">
                <a16:creationId xmlns:a16="http://schemas.microsoft.com/office/drawing/2014/main" id="{161BEC2E-82CC-4AE9-A3D7-78CF01A24CC6}"/>
              </a:ext>
            </a:extLst>
          </p:cNvPr>
          <p:cNvSpPr>
            <a:spLocks noGrp="1"/>
          </p:cNvSpPr>
          <p:nvPr/>
        </p:nvSpPr>
        <p:spPr>
          <a:xfrm>
            <a:off x="2743200" y="1352550"/>
            <a:ext cx="56197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Ответы по схеме или пользовательскому генератору</a:t>
            </a:r>
          </a:p>
        </p:txBody>
      </p:sp>
      <p:sp>
        <p:nvSpPr>
          <p:cNvPr id="8" name="dependency-1">
            <a:extLst>
              <a:ext uri="{FF2B5EF4-FFF2-40B4-BE49-F238E27FC236}">
                <a16:creationId xmlns:a16="http://schemas.microsoft.com/office/drawing/2014/main" id="{D6FA3045-C138-466E-BA06-576530447837}"/>
              </a:ext>
            </a:extLst>
          </p:cNvPr>
          <p:cNvSpPr>
            <a:spLocks noGrp="1"/>
          </p:cNvSpPr>
          <p:nvPr/>
        </p:nvSpPr>
        <p:spPr>
          <a:xfrm>
            <a:off x="571500" y="1924050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Файлы</a:t>
            </a:r>
          </a:p>
        </p:txBody>
      </p:sp>
      <p:sp>
        <p:nvSpPr>
          <p:cNvPr id="9" name="dependency-body-1">
            <a:extLst>
              <a:ext uri="{FF2B5EF4-FFF2-40B4-BE49-F238E27FC236}">
                <a16:creationId xmlns:a16="http://schemas.microsoft.com/office/drawing/2014/main" id="{20FDE8D9-342D-4E88-BB07-1D5973F45361}"/>
              </a:ext>
            </a:extLst>
          </p:cNvPr>
          <p:cNvSpPr>
            <a:spLocks noGrp="1"/>
          </p:cNvSpPr>
          <p:nvPr/>
        </p:nvSpPr>
        <p:spPr>
          <a:xfrm>
            <a:off x="2743200" y="1933575"/>
            <a:ext cx="56197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Данные в отдельном тестовом каталоге</a:t>
            </a:r>
          </a:p>
        </p:txBody>
      </p:sp>
      <p:sp>
        <p:nvSpPr>
          <p:cNvPr id="10" name="dependency-2">
            <a:extLst>
              <a:ext uri="{FF2B5EF4-FFF2-40B4-BE49-F238E27FC236}">
                <a16:creationId xmlns:a16="http://schemas.microsoft.com/office/drawing/2014/main" id="{898062BA-5E94-4138-B7DA-93C0BDDBE417}"/>
              </a:ext>
            </a:extLst>
          </p:cNvPr>
          <p:cNvSpPr>
            <a:spLocks noGrp="1"/>
          </p:cNvSpPr>
          <p:nvPr/>
        </p:nvSpPr>
        <p:spPr>
          <a:xfrm>
            <a:off x="571500" y="2505075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БД и брокер</a:t>
            </a:r>
          </a:p>
        </p:txBody>
      </p:sp>
      <p:sp>
        <p:nvSpPr>
          <p:cNvPr id="11" name="dependency-body-2">
            <a:extLst>
              <a:ext uri="{FF2B5EF4-FFF2-40B4-BE49-F238E27FC236}">
                <a16:creationId xmlns:a16="http://schemas.microsoft.com/office/drawing/2014/main" id="{2675CD2C-D857-4595-83D0-032817A4D773}"/>
              </a:ext>
            </a:extLst>
          </p:cNvPr>
          <p:cNvSpPr>
            <a:spLocks noGrp="1"/>
          </p:cNvSpPr>
          <p:nvPr/>
        </p:nvSpPr>
        <p:spPr>
          <a:xfrm>
            <a:off x="2743200" y="2514600"/>
            <a:ext cx="56197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Тестовые экземпляры с подготовленными данными</a:t>
            </a:r>
          </a:p>
        </p:txBody>
      </p:sp>
      <p:sp>
        <p:nvSpPr>
          <p:cNvPr id="12" name="isolation">
            <a:extLst>
              <a:ext uri="{FF2B5EF4-FFF2-40B4-BE49-F238E27FC236}">
                <a16:creationId xmlns:a16="http://schemas.microsoft.com/office/drawing/2014/main" id="{2F1A17A5-152B-481F-861F-1C6B00FBA6D1}"/>
              </a:ext>
            </a:extLst>
          </p:cNvPr>
          <p:cNvSpPr>
            <a:spLocks noGrp="1"/>
          </p:cNvSpPr>
          <p:nvPr/>
        </p:nvSpPr>
        <p:spPr>
          <a:xfrm>
            <a:off x="571500" y="3286125"/>
            <a:ext cx="7715250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Состояние накапливается внутри цепочки.</a:t>
            </a:r>
          </a:p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Перед следующим примером testsuite восстанавливает</a:t>
            </a:r>
          </a:p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сервис и внешнее окружение.</a:t>
            </a:r>
          </a:p>
        </p:txBody>
      </p:sp>
      <p:sp>
        <p:nvSpPr>
          <p:cNvPr id="13" name="scope">
            <a:extLst>
              <a:ext uri="{FF2B5EF4-FFF2-40B4-BE49-F238E27FC236}">
                <a16:creationId xmlns:a16="http://schemas.microsoft.com/office/drawing/2014/main" id="{8870EE06-B288-4B1F-B41B-268B1598A321}"/>
              </a:ext>
            </a:extLst>
          </p:cNvPr>
          <p:cNvSpPr>
            <a:spLocks noGrp="1"/>
          </p:cNvSpPr>
          <p:nvPr/>
        </p:nvSpPr>
        <p:spPr>
          <a:xfrm>
            <a:off x="571500" y="4391025"/>
            <a:ext cx="7715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Текущий объём: данные и изоляция. Отказы зависимостей позже.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34AA08-FB49-4C87-9D9F-DB484B0D6C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Задачи работы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157A4DC-878B-45BE-8B0D-2563A7C79EC0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8</a:t>
            </a:r>
          </a:p>
        </p:txBody>
      </p:sp>
      <p:sp>
        <p:nvSpPr>
          <p:cNvPr id="6" name="task-0">
            <a:extLst>
              <a:ext uri="{FF2B5EF4-FFF2-40B4-BE49-F238E27FC236}">
                <a16:creationId xmlns:a16="http://schemas.microsoft.com/office/drawing/2014/main" id="{16AA3851-8555-4191-AEF7-843545356B4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1.  Сравнить готовые фаззеры на контрольных стендах.</a:t>
            </a:r>
          </a:p>
        </p:txBody>
      </p:sp>
      <p:sp>
        <p:nvSpPr>
          <p:cNvPr id="7" name="task-1">
            <a:extLst>
              <a:ext uri="{FF2B5EF4-FFF2-40B4-BE49-F238E27FC236}">
                <a16:creationId xmlns:a16="http://schemas.microsoft.com/office/drawing/2014/main" id="{1C3C5970-B5F2-456D-9DDA-E46F4D5405AF}"/>
              </a:ext>
            </a:extLst>
          </p:cNvPr>
          <p:cNvSpPr>
            <a:spLocks noGrp="1"/>
          </p:cNvSpPr>
          <p:nvPr/>
        </p:nvSpPr>
        <p:spPr>
          <a:xfrm>
            <a:off x="571500" y="18288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2.  Реализовать генерацию запросов и цепочек со связями данных.</a:t>
            </a:r>
          </a:p>
        </p:txBody>
      </p:sp>
      <p:sp>
        <p:nvSpPr>
          <p:cNvPr id="8" name="task-2">
            <a:extLst>
              <a:ext uri="{FF2B5EF4-FFF2-40B4-BE49-F238E27FC236}">
                <a16:creationId xmlns:a16="http://schemas.microsoft.com/office/drawing/2014/main" id="{26E76427-1BA5-4ECA-9296-64F8729ACA70}"/>
              </a:ext>
            </a:extLst>
          </p:cNvPr>
          <p:cNvSpPr>
            <a:spLocks noGrp="1"/>
          </p:cNvSpPr>
          <p:nvPr/>
        </p:nvSpPr>
        <p:spPr>
          <a:xfrm>
            <a:off x="571500" y="23241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3.  Добавить Python API для сценариев и пользовательских проверок.</a:t>
            </a:r>
          </a:p>
        </p:txBody>
      </p:sp>
      <p:sp>
        <p:nvSpPr>
          <p:cNvPr id="9" name="task-3">
            <a:extLst>
              <a:ext uri="{FF2B5EF4-FFF2-40B4-BE49-F238E27FC236}">
                <a16:creationId xmlns:a16="http://schemas.microsoft.com/office/drawing/2014/main" id="{593D5E2A-636B-44F3-BC99-66A310169C4C}"/>
              </a:ext>
            </a:extLst>
          </p:cNvPr>
          <p:cNvSpPr>
            <a:spLocks noGrp="1"/>
          </p:cNvSpPr>
          <p:nvPr/>
        </p:nvSpPr>
        <p:spPr>
          <a:xfrm>
            <a:off x="571500" y="28194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4.  Интегрировать подготовку и сброс окружения с testsuite.</a:t>
            </a:r>
          </a:p>
        </p:txBody>
      </p:sp>
      <p:sp>
        <p:nvSpPr>
          <p:cNvPr id="10" name="task-4">
            <a:extLst>
              <a:ext uri="{FF2B5EF4-FFF2-40B4-BE49-F238E27FC236}">
                <a16:creationId xmlns:a16="http://schemas.microsoft.com/office/drawing/2014/main" id="{3208B201-0D65-4E7E-B1C3-A81EA9D55EC1}"/>
              </a:ext>
            </a:extLst>
          </p:cNvPr>
          <p:cNvSpPr>
            <a:spLocks noGrp="1"/>
          </p:cNvSpPr>
          <p:nvPr/>
        </p:nvSpPr>
        <p:spPr>
          <a:xfrm>
            <a:off x="571500" y="33147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5.  Подключить обратную связь по покрытию C++.</a:t>
            </a:r>
          </a:p>
        </p:txBody>
      </p:sp>
      <p:sp>
        <p:nvSpPr>
          <p:cNvPr id="11" name="task-5">
            <a:extLst>
              <a:ext uri="{FF2B5EF4-FFF2-40B4-BE49-F238E27FC236}">
                <a16:creationId xmlns:a16="http://schemas.microsoft.com/office/drawing/2014/main" id="{BF7D95CC-D6EE-403D-8A74-B0CE8E1B80A8}"/>
              </a:ext>
            </a:extLst>
          </p:cNvPr>
          <p:cNvSpPr>
            <a:spLocks noGrp="1"/>
          </p:cNvSpPr>
          <p:nvPr/>
        </p:nvSpPr>
        <p:spPr>
          <a:xfrm>
            <a:off x="571500" y="3810000"/>
            <a:ext cx="77628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6.  Реализовать воспроизведение и сокращение находок,</a:t>
            </a:r>
          </a:p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затем провести сравнительные эксперименты.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A09A9B-0E75-45BE-9B12-1CDD6BCB7E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Текущее состояние проекта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C08D355-8A20-4F4D-A8B2-5836318B5D5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9</a:t>
            </a:r>
          </a:p>
        </p:txBody>
      </p:sp>
      <p:sp>
        <p:nvSpPr>
          <p:cNvPr id="6" name="ready-title">
            <a:extLst>
              <a:ext uri="{FF2B5EF4-FFF2-40B4-BE49-F238E27FC236}">
                <a16:creationId xmlns:a16="http://schemas.microsoft.com/office/drawing/2014/main" id="{D63FAEA1-E34A-40A2-82BA-036BAF73339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Уже подготовлены</a:t>
            </a:r>
          </a:p>
        </p:txBody>
      </p:sp>
      <p:sp>
        <p:nvSpPr>
          <p:cNvPr id="7" name="ready-text">
            <a:extLst>
              <a:ext uri="{FF2B5EF4-FFF2-40B4-BE49-F238E27FC236}">
                <a16:creationId xmlns:a16="http://schemas.microsoft.com/office/drawing/2014/main" id="{A06AE4B3-615A-45C3-8740-BBC74F8AF3F8}"/>
              </a:ext>
            </a:extLst>
          </p:cNvPr>
          <p:cNvSpPr>
            <a:spLocks noGrp="1"/>
          </p:cNvSpPr>
          <p:nvPr/>
        </p:nvSpPr>
        <p:spPr>
          <a:xfrm>
            <a:off x="571500" y="1743075"/>
            <a:ext cx="7715250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REST- и gRPC-стенды с пятью классами известных дефектов.</a:t>
            </a:r>
          </a:p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Контракты API, HTTP-моки и функциональные testsuite-тесты.</a:t>
            </a:r>
          </a:p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Контрольные проверки воспроизведения падений.</a:t>
            </a:r>
          </a:p>
        </p:txBody>
      </p:sp>
      <p:sp>
        <p:nvSpPr>
          <p:cNvPr id="8" name="concept-title">
            <a:extLst>
              <a:ext uri="{FF2B5EF4-FFF2-40B4-BE49-F238E27FC236}">
                <a16:creationId xmlns:a16="http://schemas.microsoft.com/office/drawing/2014/main" id="{D0FF592C-4876-4850-B0AA-FAD62524B4B4}"/>
              </a:ext>
            </a:extLst>
          </p:cNvPr>
          <p:cNvSpPr>
            <a:spLocks noGrp="1"/>
          </p:cNvSpPr>
          <p:nvPr/>
        </p:nvSpPr>
        <p:spPr>
          <a:xfrm>
            <a:off x="571500" y="28956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Сформулирована концепция</a:t>
            </a:r>
          </a:p>
        </p:txBody>
      </p:sp>
      <p:sp>
        <p:nvSpPr>
          <p:cNvPr id="9" name="concept-text">
            <a:extLst>
              <a:ext uri="{FF2B5EF4-FFF2-40B4-BE49-F238E27FC236}">
                <a16:creationId xmlns:a16="http://schemas.microsoft.com/office/drawing/2014/main" id="{32046FA9-54F8-4CA3-B385-496537C0FDE3}"/>
              </a:ext>
            </a:extLst>
          </p:cNvPr>
          <p:cNvSpPr>
            <a:spLocks noGrp="1"/>
          </p:cNvSpPr>
          <p:nvPr/>
        </p:nvSpPr>
        <p:spPr>
          <a:xfrm>
            <a:off x="571500" y="3295650"/>
            <a:ext cx="77152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Три режима, данные зависимостей, изоляция и критерии оценки.</a:t>
            </a:r>
          </a:p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Подготовлен список инструментов для сравнения.</a:t>
            </a:r>
          </a:p>
        </p:txBody>
      </p:sp>
      <p:sp>
        <p:nvSpPr>
          <p:cNvPr id="10" name="next">
            <a:extLst>
              <a:ext uri="{FF2B5EF4-FFF2-40B4-BE49-F238E27FC236}">
                <a16:creationId xmlns:a16="http://schemas.microsoft.com/office/drawing/2014/main" id="{05B64EE6-C622-4A52-AFF6-40C4DF5F5F05}"/>
              </a:ext>
            </a:extLst>
          </p:cNvPr>
          <p:cNvSpPr>
            <a:spLocks noGrp="1"/>
          </p:cNvSpPr>
          <p:nvPr/>
        </p:nvSpPr>
        <p:spPr>
          <a:xfrm>
            <a:off x="571500" y="4105275"/>
            <a:ext cx="7715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Следующий шаг: первые сравнительные прогоны</a:t>
            </a:r>
          </a:p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выбор основы прототипа.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00549F-9CFD-41E9-B6A8-B29B08028F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Ожидаемый результат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693F62A9-486A-41F6-9F89-21B4852A52AD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10</a:t>
            </a:r>
          </a:p>
        </p:txBody>
      </p:sp>
      <p:sp>
        <p:nvSpPr>
          <p:cNvPr id="6" name="deliverable">
            <a:extLst>
              <a:ext uri="{FF2B5EF4-FFF2-40B4-BE49-F238E27FC236}">
                <a16:creationId xmlns:a16="http://schemas.microsoft.com/office/drawing/2014/main" id="{C3C435C6-8EED-4CA5-9534-B7D53BA4EA06}"/>
              </a:ext>
            </a:extLst>
          </p:cNvPr>
          <p:cNvSpPr>
            <a:spLocks noGrp="1"/>
          </p:cNvSpPr>
          <p:nvPr/>
        </p:nvSpPr>
        <p:spPr>
          <a:xfrm>
            <a:off x="571500" y="1304925"/>
            <a:ext cx="77152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Рабочий прототип с Python API, изоляцией окружения</a:t>
            </a:r>
          </a:p>
          <a:p>
            <a: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воспроизводимыми примерами найденных ошибок.</a:t>
            </a:r>
          </a:p>
        </p:txBody>
      </p:sp>
      <p:sp>
        <p:nvSpPr>
          <p:cNvPr id="7" name="defects-label">
            <a:extLst>
              <a:ext uri="{FF2B5EF4-FFF2-40B4-BE49-F238E27FC236}">
                <a16:creationId xmlns:a16="http://schemas.microsoft.com/office/drawing/2014/main" id="{87EEBD55-2CC1-420D-B917-FED42D97585B}"/>
              </a:ext>
            </a:extLst>
          </p:cNvPr>
          <p:cNvSpPr>
            <a:spLocks noGrp="1"/>
          </p:cNvSpPr>
          <p:nvPr/>
        </p:nvSpPr>
        <p:spPr>
          <a:xfrm>
            <a:off x="571500" y="2228850"/>
            <a:ext cx="3857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Минимальная цель на стендах</a:t>
            </a:r>
          </a:p>
        </p:txBody>
      </p:sp>
      <p:sp>
        <p:nvSpPr>
          <p:cNvPr id="8" name="defects">
            <a:extLst>
              <a:ext uri="{FF2B5EF4-FFF2-40B4-BE49-F238E27FC236}">
                <a16:creationId xmlns:a16="http://schemas.microsoft.com/office/drawing/2014/main" id="{1A8FFE1E-AB85-4328-9C4A-984A1AE3BC79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419100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от одного запроса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Недекларированный HTTP 500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после цепочки команд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Повторный commit с общим ticket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Сочетание запроса и ответа мока</a:t>
            </a:r>
          </a:p>
        </p:txBody>
      </p:sp>
      <p:sp>
        <p:nvSpPr>
          <p:cNvPr id="9" name="metrics-label">
            <a:extLst>
              <a:ext uri="{FF2B5EF4-FFF2-40B4-BE49-F238E27FC236}">
                <a16:creationId xmlns:a16="http://schemas.microsoft.com/office/drawing/2014/main" id="{8D5E380E-8605-4A3C-9033-049219F06785}"/>
              </a:ext>
            </a:extLst>
          </p:cNvPr>
          <p:cNvSpPr>
            <a:spLocks noGrp="1"/>
          </p:cNvSpPr>
          <p:nvPr/>
        </p:nvSpPr>
        <p:spPr>
          <a:xfrm>
            <a:off x="5048250" y="2228850"/>
            <a:ext cx="3333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Критерии сравнения</a:t>
            </a:r>
          </a:p>
        </p:txBody>
      </p:sp>
      <p:sp>
        <p:nvSpPr>
          <p:cNvPr id="10" name="metrics">
            <a:extLst>
              <a:ext uri="{FF2B5EF4-FFF2-40B4-BE49-F238E27FC236}">
                <a16:creationId xmlns:a16="http://schemas.microsoft.com/office/drawing/2014/main" id="{6D876C59-8E2B-4D7D-8176-D008AEB59C35}"/>
              </a:ext>
            </a:extLst>
          </p:cNvPr>
          <p:cNvSpPr>
            <a:spLocks noGrp="1"/>
          </p:cNvSpPr>
          <p:nvPr/>
        </p:nvSpPr>
        <p:spPr>
          <a:xfrm>
            <a:off x="5048250" y="2647950"/>
            <a:ext cx="3286125" cy="1266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Доля найденных дефектов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Время до обнаружения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Повторяемость находок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Покрытие и накладные расходы</a:t>
            </a:r>
          </a:p>
        </p:txBody>
      </p:sp>
      <p:sp>
        <p:nvSpPr>
          <p:cNvPr id="11" name="budget">
            <a:extLst>
              <a:ext uri="{FF2B5EF4-FFF2-40B4-BE49-F238E27FC236}">
                <a16:creationId xmlns:a16="http://schemas.microsoft.com/office/drawing/2014/main" id="{4911F4F3-E14C-4617-AC9E-A42F6D93CBE0}"/>
              </a:ext>
            </a:extLst>
          </p:cNvPr>
          <p:cNvSpPr>
            <a:spLocks noGrp="1"/>
          </p:cNvSpPr>
          <p:nvPr/>
        </p:nvSpPr>
        <p:spPr>
          <a:xfrm>
            <a:off x="571500" y="432435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Сравнение при одинаковых бюджетах и учтённых подсказках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9CBFE5-EBA8-4F58-A305-B3F57D3F2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F90D52-5A44-4E94-AC7B-06E514EBF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sz="4400" lang="ru-RU" dirty="1"/>
              <a:t>Спасибо</a:t>
            </a:r>
            <a:br>
              <a:rPr sz="4400" lang="ru-RU" dirty="1"/>
            </a:br>
            <a:r>
              <a:rPr sz="4400" lang="ru-RU" dirty="1"/>
              <a:t>за внимание!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45834-34CB-F6E2-51BC-F26A92C144A1}"/>
              </a:ext>
            </a:extLst>
          </p:cNvPr>
          <p:cNvSpPr>
            <a:spLocks noGrp="1"/>
          </p:cNvSpPr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lang="ru-RU" dirty="1">
                <a:solidFill>
                  <a:schemeClr val="bg1"/>
                </a:solidFill>
                <a:latin typeface="Golos Text"/>
                <a:ea typeface="Golos Text"/>
                <a:cs typeface="Golos Text"/>
              </a:rPr>
              <a:t>Ваши 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1422</Words>
  <Application>Microsoft Macintosh PowerPoint</Application>
  <DocSecurity>0</DocSecurity>
  <PresentationFormat>On-screen Show (16:9)</PresentationFormat>
  <Paragraphs>179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Разработка инструмента фаззинга REST-сервисов на userver</vt:lpstr>
      <vt:lpstr>Актуальность темы</vt:lpstr>
      <vt:lpstr>Обзор подходов и аналогов</vt:lpstr>
      <vt:lpstr>Цель и гипотеза</vt:lpstr>
      <vt:lpstr>Предлагаемый инструмент</vt:lpstr>
      <vt:lpstr>Пример исследования сценария</vt:lpstr>
      <vt:lpstr>Окружение и изоляция</vt:lpstr>
      <vt:lpstr>Задачи работы</vt:lpstr>
      <vt:lpstr>Текущее состояние проекта</vt:lpstr>
      <vt:lpstr>Ожидаемый результат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Ivan Skriabin</cp:lastModifiedBy>
  <cp:revision>1</cp:revision>
  <dcterms:created xsi:type="dcterms:W3CDTF">2026-10-29T23:19:15Z</dcterms:created>
  <dcterms:modified xsi:type="dcterms:W3CDTF">2026-10-29T23:26:57Z</dcterms:modified>
</cp:coreProperties>
</file>